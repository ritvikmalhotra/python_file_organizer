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7" r:id="rId1"/>
  </p:sldMasterIdLst>
  <p:sldIdLst>
    <p:sldId id="256" r:id="rId2"/>
    <p:sldId id="269" r:id="rId3"/>
    <p:sldId id="282" r:id="rId4"/>
    <p:sldId id="281" r:id="rId5"/>
    <p:sldId id="270" r:id="rId6"/>
    <p:sldId id="275" r:id="rId7"/>
    <p:sldId id="277" r:id="rId8"/>
    <p:sldId id="278" r:id="rId9"/>
    <p:sldId id="279" r:id="rId10"/>
    <p:sldId id="280" r:id="rId11"/>
    <p:sldId id="283" r:id="rId12"/>
    <p:sldId id="284" r:id="rId13"/>
    <p:sldId id="285" r:id="rId14"/>
    <p:sldId id="286" r:id="rId15"/>
    <p:sldId id="287" r:id="rId16"/>
    <p:sldId id="300" r:id="rId17"/>
    <p:sldId id="288" r:id="rId18"/>
    <p:sldId id="289" r:id="rId19"/>
    <p:sldId id="290" r:id="rId20"/>
    <p:sldId id="291" r:id="rId21"/>
    <p:sldId id="292" r:id="rId22"/>
    <p:sldId id="293" r:id="rId23"/>
    <p:sldId id="295" r:id="rId24"/>
    <p:sldId id="296" r:id="rId25"/>
    <p:sldId id="297" r:id="rId26"/>
    <p:sldId id="298" r:id="rId27"/>
    <p:sldId id="299" r:id="rId28"/>
    <p:sldId id="301"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8B9EBBA-996F-894A-B54A-D6246ED52CEA}" type="datetimeFigureOut">
              <a:rPr lang="en-US" smtClean="0"/>
              <a:pPr/>
              <a:t>3/25/2025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63859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A1323-8D79-1946-B0D7-40001CF92E9D}" type="datetimeFigureOut">
              <a:rPr lang="en-US" smtClean="0"/>
              <a:pPr/>
              <a:t>3/25/2025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899563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DFA1846-DA80-1C48-A609-854EA85C59AD}" type="datetimeFigureOut">
              <a:rPr lang="en-US" smtClean="0"/>
              <a:pPr/>
              <a:t>3/25/2025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26726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302355-E14B-8545-A8F8-0FE83CC9D524}" type="datetimeFigureOut">
              <a:rPr lang="en-US" smtClean="0"/>
              <a:pPr/>
              <a:t>3/25/2025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137625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640F58-564D-2B4F-AE67-E407BA4FCF45}" type="datetimeFigureOut">
              <a:rPr lang="en-US" smtClean="0"/>
              <a:pPr/>
              <a:t>3/25/2025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333256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smtClean="0"/>
              <a:pPr/>
              <a:t>3/25/2025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959546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smtClean="0"/>
              <a:pPr/>
              <a:t>3/25/2025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63846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0DF5E60-9974-AC48-9591-99C2BB44B7CF}" type="datetimeFigureOut">
              <a:rPr lang="en-US" smtClean="0"/>
              <a:pPr/>
              <a:t>3/25/2025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31019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3885810" y="6041362"/>
            <a:ext cx="976879" cy="365125"/>
          </a:xfrm>
        </p:spPr>
        <p:txBody>
          <a:bodyPr/>
          <a:lstStyle/>
          <a:p>
            <a:fld id="{18C79C5D-2A6F-F04D-97DA-BEF2467B64E4}" type="datetimeFigureOut">
              <a:rPr lang="en-US" smtClean="0"/>
              <a:pPr/>
              <a:t>3/25/2025</a:t>
            </a:fld>
            <a:endParaRPr lang="en-US" dirty="0"/>
          </a:p>
        </p:txBody>
      </p:sp>
      <p:sp>
        <p:nvSpPr>
          <p:cNvPr id="6" name="Footer Placeholder 5"/>
          <p:cNvSpPr>
            <a:spLocks noGrp="1"/>
          </p:cNvSpPr>
          <p:nvPr>
            <p:ph type="ftr" sz="quarter" idx="11"/>
          </p:nvPr>
        </p:nvSpPr>
        <p:spPr>
          <a:xfrm>
            <a:off x="590396" y="6041362"/>
            <a:ext cx="3295413" cy="365125"/>
          </a:xfrm>
        </p:spPr>
        <p:txBody>
          <a:bodyPr/>
          <a:lstStyle/>
          <a:p>
            <a:endParaRPr lang="en-US" dirty="0"/>
          </a:p>
        </p:txBody>
      </p:sp>
      <p:sp>
        <p:nvSpPr>
          <p:cNvPr id="7" name="Slide Number Placeholder 6"/>
          <p:cNvSpPr>
            <a:spLocks noGrp="1"/>
          </p:cNvSpPr>
          <p:nvPr>
            <p:ph type="sldNum" sz="quarter" idx="12"/>
          </p:nvPr>
        </p:nvSpPr>
        <p:spPr>
          <a:xfrm>
            <a:off x="4862689" y="5915888"/>
            <a:ext cx="1062155" cy="490599"/>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36551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8C79C5D-2A6F-F04D-97DA-BEF2467B64E4}" type="datetimeFigureOut">
              <a:rPr lang="en-US" smtClean="0"/>
              <a:pPr/>
              <a:t>3/25/2025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581211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Edit Master text styles</a:t>
            </a:r>
          </a:p>
        </p:txBody>
      </p:sp>
      <p:sp>
        <p:nvSpPr>
          <p:cNvPr id="4" name="Date Placeholder 3"/>
          <p:cNvSpPr>
            <a:spLocks noGrp="1"/>
          </p:cNvSpPr>
          <p:nvPr>
            <p:ph type="dt" sz="half" idx="10"/>
          </p:nvPr>
        </p:nvSpPr>
        <p:spPr/>
        <p:txBody>
          <a:bodyPr/>
          <a:lstStyle/>
          <a:p>
            <a:fld id="{8DFA1846-DA80-1C48-A609-854EA85C59AD}" type="datetimeFigureOut">
              <a:rPr lang="en-US" smtClean="0"/>
              <a:pPr/>
              <a:t>3/25/2025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564646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Edit Master text styles</a:t>
            </a:r>
          </a:p>
        </p:txBody>
      </p:sp>
      <p:sp>
        <p:nvSpPr>
          <p:cNvPr id="2" name="Date Placeholder 1"/>
          <p:cNvSpPr>
            <a:spLocks noGrp="1"/>
          </p:cNvSpPr>
          <p:nvPr>
            <p:ph type="dt" sz="half" idx="10"/>
          </p:nvPr>
        </p:nvSpPr>
        <p:spPr/>
        <p:txBody>
          <a:bodyPr/>
          <a:lstStyle/>
          <a:p>
            <a:fld id="{FBF54567-0DE4-3F47-BF90-CB84690072F9}" type="datetimeFigureOut">
              <a:rPr lang="en-US" smtClean="0"/>
              <a:pPr/>
              <a:t>3/25/2025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999807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C52C72-DE31-F449-A4ED-4C594FD91407}" type="datetimeFigureOut">
              <a:rPr lang="en-US" smtClean="0"/>
              <a:pPr/>
              <a:t>3/25/2025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771717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62726E-379B-B349-9EED-81ED093FA806}" type="datetimeFigureOut">
              <a:rPr lang="en-US" smtClean="0"/>
              <a:pPr/>
              <a:t>3/25/2025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97631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09B482E8-6E0E-1B4F-B1FD-C69DB9E858D9}" type="datetimeFigureOut">
              <a:rPr lang="en-US" smtClean="0"/>
              <a:pPr/>
              <a:t>3/25/2025</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19619931"/>
      </p:ext>
    </p:extLst>
  </p:cSld>
  <p:clrMap bg1="dk1" tx1="lt1" bg2="dk2" tx2="lt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Lst>
  <p:hf sldNum="0" hdr="0" ftr="0" dt="0"/>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7.xml"/><Relationship Id="rId4" Type="http://schemas.openxmlformats.org/officeDocument/2006/relationships/image" Target="../media/image12.jpg"/></Relationships>
</file>

<file path=ppt/slides/_rels/slide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7.xml"/><Relationship Id="rId4" Type="http://schemas.openxmlformats.org/officeDocument/2006/relationships/image" Target="../media/image15.jpg"/></Relationships>
</file>

<file path=ppt/slides/_rels/slide1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gi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1.bin"/><Relationship Id="rId1" Type="http://schemas.openxmlformats.org/officeDocument/2006/relationships/slideLayout" Target="../slideLayouts/slideLayout7.xml"/><Relationship Id="rId5" Type="http://schemas.openxmlformats.org/officeDocument/2006/relationships/image" Target="../media/image23.wmf"/><Relationship Id="rId4" Type="http://schemas.openxmlformats.org/officeDocument/2006/relationships/oleObject" Target="../embeddings/oleObject2.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5852" y="1719617"/>
            <a:ext cx="10572000" cy="1008258"/>
          </a:xfrm>
        </p:spPr>
        <p:txBody>
          <a:bodyPr/>
          <a:lstStyle/>
          <a:p>
            <a:pPr algn="ctr"/>
            <a:r>
              <a:rPr lang="en-GB" sz="4000" dirty="0">
                <a:latin typeface="Times New Roman" panose="02020603050405020304" pitchFamily="18" charset="0"/>
                <a:cs typeface="Times New Roman" panose="02020603050405020304" pitchFamily="18" charset="0"/>
              </a:rPr>
              <a:t>PHYS1291</a:t>
            </a:r>
            <a:br>
              <a:rPr lang="en-GB" sz="4000" dirty="0">
                <a:latin typeface="Times New Roman" panose="02020603050405020304" pitchFamily="18" charset="0"/>
                <a:cs typeface="Times New Roman" panose="02020603050405020304" pitchFamily="18" charset="0"/>
              </a:rPr>
            </a:br>
            <a:r>
              <a:rPr lang="en-GB" sz="4000" dirty="0">
                <a:latin typeface="Times New Roman" panose="02020603050405020304" pitchFamily="18" charset="0"/>
                <a:cs typeface="Times New Roman" panose="02020603050405020304" pitchFamily="18" charset="0"/>
              </a:rPr>
              <a:t>Fundamentals of Engineering Physics</a:t>
            </a:r>
            <a:br>
              <a:rPr lang="en-GB" sz="4000" dirty="0">
                <a:latin typeface="Times New Roman" panose="02020603050405020304" pitchFamily="18" charset="0"/>
                <a:cs typeface="Times New Roman" panose="02020603050405020304" pitchFamily="18" charset="0"/>
              </a:rPr>
            </a:br>
            <a:r>
              <a:rPr lang="en-GB" sz="4000" dirty="0">
                <a:latin typeface="Times New Roman" panose="02020603050405020304" pitchFamily="18" charset="0"/>
                <a:cs typeface="Times New Roman" panose="02020603050405020304" pitchFamily="18" charset="0"/>
              </a:rPr>
              <a:t>Unit V: </a:t>
            </a:r>
            <a:r>
              <a:rPr lang="en-US" b="0" dirty="0"/>
              <a:t> </a:t>
            </a:r>
            <a:r>
              <a:rPr lang="en-US" sz="4000" dirty="0" err="1">
                <a:latin typeface="Times New Roman" panose="02020603050405020304" pitchFamily="18" charset="0"/>
                <a:cs typeface="Times New Roman" panose="02020603050405020304" pitchFamily="18" charset="0"/>
              </a:rPr>
              <a:t>Fibre</a:t>
            </a:r>
            <a:r>
              <a:rPr lang="en-US" sz="4000" dirty="0">
                <a:latin typeface="Times New Roman" panose="02020603050405020304" pitchFamily="18" charset="0"/>
                <a:cs typeface="Times New Roman" panose="02020603050405020304" pitchFamily="18" charset="0"/>
              </a:rPr>
              <a:t> optics</a:t>
            </a:r>
          </a:p>
        </p:txBody>
      </p:sp>
      <p:sp>
        <p:nvSpPr>
          <p:cNvPr id="5" name="Subtitle 2"/>
          <p:cNvSpPr>
            <a:spLocks noGrp="1"/>
          </p:cNvSpPr>
          <p:nvPr>
            <p:ph type="subTitle" idx="1"/>
          </p:nvPr>
        </p:nvSpPr>
        <p:spPr>
          <a:xfrm>
            <a:off x="400573" y="5282821"/>
            <a:ext cx="10572000" cy="1390935"/>
          </a:xfrm>
        </p:spPr>
        <p:txBody>
          <a:bodyPr>
            <a:noAutofit/>
          </a:bodyPr>
          <a:lstStyle/>
          <a:p>
            <a:pPr algn="ctr">
              <a:spcBef>
                <a:spcPts val="0"/>
              </a:spcBef>
              <a:spcAft>
                <a:spcPts val="0"/>
              </a:spcAft>
            </a:pPr>
            <a:r>
              <a:rPr lang="en-GB" sz="2000" b="1" dirty="0" err="1">
                <a:solidFill>
                  <a:srgbClr val="FFFF00"/>
                </a:solidFill>
                <a:latin typeface="Times New Roman" panose="02020603050405020304" pitchFamily="18" charset="0"/>
                <a:cs typeface="Times New Roman" panose="02020603050405020304" pitchFamily="18" charset="0"/>
              </a:rPr>
              <a:t>Dr.B.SrinivasaRao</a:t>
            </a:r>
            <a:r>
              <a:rPr lang="en-GB" sz="2000" b="1" dirty="0">
                <a:solidFill>
                  <a:srgbClr val="FFFF00"/>
                </a:solidFill>
                <a:latin typeface="Times New Roman" panose="02020603050405020304" pitchFamily="18" charset="0"/>
                <a:cs typeface="Times New Roman" panose="02020603050405020304" pitchFamily="18" charset="0"/>
              </a:rPr>
              <a:t>, </a:t>
            </a:r>
          </a:p>
          <a:p>
            <a:pPr algn="ctr">
              <a:spcBef>
                <a:spcPts val="0"/>
              </a:spcBef>
              <a:spcAft>
                <a:spcPts val="0"/>
              </a:spcAft>
            </a:pPr>
            <a:r>
              <a:rPr lang="en-GB" sz="2000" b="1" dirty="0">
                <a:solidFill>
                  <a:srgbClr val="FFFF00"/>
                </a:solidFill>
                <a:latin typeface="Times New Roman" panose="02020603050405020304" pitchFamily="18" charset="0"/>
                <a:cs typeface="Times New Roman" panose="02020603050405020304" pitchFamily="18" charset="0"/>
              </a:rPr>
              <a:t> Department of Physics,  </a:t>
            </a:r>
            <a:r>
              <a:rPr lang="en-GB" sz="2000" b="1" dirty="0" err="1">
                <a:solidFill>
                  <a:srgbClr val="FFFF00"/>
                </a:solidFill>
                <a:latin typeface="Times New Roman" panose="02020603050405020304" pitchFamily="18" charset="0"/>
                <a:cs typeface="Times New Roman" panose="02020603050405020304" pitchFamily="18" charset="0"/>
              </a:rPr>
              <a:t>Gitam</a:t>
            </a:r>
            <a:r>
              <a:rPr lang="en-GB" sz="2000" b="1" dirty="0">
                <a:solidFill>
                  <a:srgbClr val="FFFF00"/>
                </a:solidFill>
                <a:latin typeface="Times New Roman" panose="02020603050405020304" pitchFamily="18" charset="0"/>
                <a:cs typeface="Times New Roman" panose="02020603050405020304" pitchFamily="18" charset="0"/>
              </a:rPr>
              <a:t> School of Science</a:t>
            </a:r>
          </a:p>
          <a:p>
            <a:pPr algn="ctr">
              <a:spcBef>
                <a:spcPts val="0"/>
              </a:spcBef>
              <a:spcAft>
                <a:spcPts val="0"/>
              </a:spcAft>
            </a:pPr>
            <a:r>
              <a:rPr lang="en-GB" sz="2000" b="1" dirty="0">
                <a:solidFill>
                  <a:srgbClr val="FFFF00"/>
                </a:solidFill>
                <a:latin typeface="Times New Roman" panose="02020603050405020304" pitchFamily="18" charset="0"/>
                <a:cs typeface="Times New Roman" panose="02020603050405020304" pitchFamily="18" charset="0"/>
              </a:rPr>
              <a:t>GITAM (Deemed to be </a:t>
            </a:r>
            <a:r>
              <a:rPr lang="en-GB" sz="2000" b="1">
                <a:solidFill>
                  <a:srgbClr val="FFFF00"/>
                </a:solidFill>
                <a:latin typeface="Times New Roman" panose="02020603050405020304" pitchFamily="18" charset="0"/>
                <a:cs typeface="Times New Roman" panose="02020603050405020304" pitchFamily="18" charset="0"/>
              </a:rPr>
              <a:t>University)</a:t>
            </a:r>
            <a:endParaRPr lang="en-GB" sz="2000" b="1" dirty="0">
              <a:solidFill>
                <a:srgbClr val="FFFF00"/>
              </a:solidFill>
              <a:latin typeface="Times New Roman" panose="02020603050405020304" pitchFamily="18" charset="0"/>
              <a:cs typeface="Times New Roman" panose="02020603050405020304" pitchFamily="18" charset="0"/>
            </a:endParaRPr>
          </a:p>
        </p:txBody>
      </p:sp>
      <p:pic>
        <p:nvPicPr>
          <p:cNvPr id="4" name="Picture 3" descr="A logo with a bird in a circle&#10;&#10;Description automatically generated">
            <a:extLst>
              <a:ext uri="{FF2B5EF4-FFF2-40B4-BE49-F238E27FC236}">
                <a16:creationId xmlns:a16="http://schemas.microsoft.com/office/drawing/2014/main" id="{50E4FACD-2FEF-F3A3-9BB0-CEED49D2163D}"/>
              </a:ext>
            </a:extLst>
          </p:cNvPr>
          <p:cNvPicPr>
            <a:picLocks noChangeAspect="1"/>
          </p:cNvPicPr>
          <p:nvPr/>
        </p:nvPicPr>
        <p:blipFill>
          <a:blip r:embed="rId2"/>
          <a:stretch>
            <a:fillRect/>
          </a:stretch>
        </p:blipFill>
        <p:spPr>
          <a:xfrm>
            <a:off x="4549875" y="2727828"/>
            <a:ext cx="2143125" cy="2143125"/>
          </a:xfrm>
          <a:prstGeom prst="rect">
            <a:avLst/>
          </a:prstGeom>
        </p:spPr>
      </p:pic>
    </p:spTree>
    <p:extLst>
      <p:ext uri="{BB962C8B-B14F-4D97-AF65-F5344CB8AC3E}">
        <p14:creationId xmlns:p14="http://schemas.microsoft.com/office/powerpoint/2010/main" val="24799811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23163" y="458169"/>
            <a:ext cx="8702723" cy="707886"/>
          </a:xfrm>
          <a:prstGeom prst="rect">
            <a:avLst/>
          </a:prstGeom>
        </p:spPr>
        <p:txBody>
          <a:bodyPr wrap="square">
            <a:spAutoFit/>
          </a:bodyPr>
          <a:lstStyle/>
          <a:p>
            <a:pPr algn="just"/>
            <a:r>
              <a:rPr lang="en-US" sz="2000" dirty="0">
                <a:latin typeface="Times New Roman" panose="02020603050405020304" pitchFamily="18" charset="0"/>
                <a:cs typeface="Times New Roman" panose="02020603050405020304" pitchFamily="18" charset="0"/>
              </a:rPr>
              <a:t>Introduction </a:t>
            </a:r>
          </a:p>
          <a:p>
            <a:pPr algn="just"/>
            <a:r>
              <a:rPr lang="en-US" sz="2000" dirty="0">
                <a:latin typeface="Times New Roman" panose="02020603050405020304" pitchFamily="18" charset="0"/>
                <a:cs typeface="Times New Roman" panose="02020603050405020304" pitchFamily="18" charset="0"/>
              </a:rPr>
              <a:t>Fiber optics deals with the light propagation through thin glass fibers.</a:t>
            </a:r>
          </a:p>
        </p:txBody>
      </p:sp>
      <p:sp>
        <p:nvSpPr>
          <p:cNvPr id="3" name="Rectangle 2"/>
          <p:cNvSpPr/>
          <p:nvPr/>
        </p:nvSpPr>
        <p:spPr>
          <a:xfrm>
            <a:off x="453432" y="1524716"/>
            <a:ext cx="3773790" cy="400110"/>
          </a:xfrm>
          <a:prstGeom prst="rect">
            <a:avLst/>
          </a:prstGeom>
        </p:spPr>
        <p:txBody>
          <a:bodyPr wrap="none">
            <a:spAutoFit/>
          </a:bodyPr>
          <a:lstStyle/>
          <a:p>
            <a:pPr algn="just"/>
            <a:r>
              <a:rPr lang="en-US" sz="2000" dirty="0">
                <a:latin typeface="Times New Roman" panose="02020603050405020304" pitchFamily="18" charset="0"/>
                <a:cs typeface="Times New Roman" panose="02020603050405020304" pitchFamily="18" charset="0"/>
              </a:rPr>
              <a:t>The Basic principle of optical fiber</a:t>
            </a:r>
          </a:p>
        </p:txBody>
      </p:sp>
      <p:sp>
        <p:nvSpPr>
          <p:cNvPr id="4" name="Rectangle 3"/>
          <p:cNvSpPr/>
          <p:nvPr/>
        </p:nvSpPr>
        <p:spPr>
          <a:xfrm>
            <a:off x="523163" y="1991098"/>
            <a:ext cx="10831774" cy="707886"/>
          </a:xfrm>
          <a:prstGeom prst="rect">
            <a:avLst/>
          </a:prstGeom>
        </p:spPr>
        <p:txBody>
          <a:bodyPr wrap="square">
            <a:spAutoFit/>
          </a:bodyPr>
          <a:lstStyle/>
          <a:p>
            <a:pPr algn="just"/>
            <a:r>
              <a:rPr lang="en-US" sz="2000" dirty="0">
                <a:latin typeface="Times New Roman" panose="02020603050405020304" pitchFamily="18" charset="0"/>
                <a:cs typeface="Times New Roman" panose="02020603050405020304" pitchFamily="18" charset="0"/>
              </a:rPr>
              <a:t>Principle: The basic principle of optical fiber in the transmission of optical signal is total internal reflection.</a:t>
            </a:r>
          </a:p>
        </p:txBody>
      </p:sp>
      <p:sp>
        <p:nvSpPr>
          <p:cNvPr id="5" name="Rectangle 4"/>
          <p:cNvSpPr/>
          <p:nvPr/>
        </p:nvSpPr>
        <p:spPr>
          <a:xfrm>
            <a:off x="523163" y="2661862"/>
            <a:ext cx="2595326" cy="400110"/>
          </a:xfrm>
          <a:prstGeom prst="rect">
            <a:avLst/>
          </a:prstGeom>
        </p:spPr>
        <p:txBody>
          <a:bodyPr wrap="none">
            <a:spAutoFit/>
          </a:bodyPr>
          <a:lstStyle/>
          <a:p>
            <a:r>
              <a:rPr lang="en-US" sz="2000" dirty="0">
                <a:latin typeface="Times New Roman" panose="02020603050405020304" pitchFamily="18" charset="0"/>
                <a:cs typeface="Times New Roman" panose="02020603050405020304" pitchFamily="18" charset="0"/>
              </a:rPr>
              <a:t>Total internal reflection</a:t>
            </a:r>
          </a:p>
        </p:txBody>
      </p:sp>
      <p:sp>
        <p:nvSpPr>
          <p:cNvPr id="6" name="Rectangle 5"/>
          <p:cNvSpPr/>
          <p:nvPr/>
        </p:nvSpPr>
        <p:spPr>
          <a:xfrm>
            <a:off x="523163" y="3031194"/>
            <a:ext cx="10258599" cy="1015663"/>
          </a:xfrm>
          <a:prstGeom prst="rect">
            <a:avLst/>
          </a:prstGeom>
        </p:spPr>
        <p:txBody>
          <a:bodyPr wrap="square">
            <a:spAutoFit/>
          </a:bodyPr>
          <a:lstStyle/>
          <a:p>
            <a:pPr algn="just"/>
            <a:r>
              <a:rPr lang="en-US" sz="2000" dirty="0">
                <a:latin typeface="Times New Roman" panose="02020603050405020304" pitchFamily="18" charset="0"/>
                <a:cs typeface="Times New Roman" panose="02020603050405020304" pitchFamily="18" charset="0"/>
              </a:rPr>
              <a:t>When the light ray travels from denser medium to rarer medium the refracted ray bends away from the normal. When the angle of incidence is greater than the critical angle, the refracted ray again reflects into the same medium. This phenomenon is called total internal reflection.</a:t>
            </a:r>
          </a:p>
        </p:txBody>
      </p:sp>
      <p:pic>
        <p:nvPicPr>
          <p:cNvPr id="9" name="Picture 8"/>
          <p:cNvPicPr>
            <a:picLocks noChangeAspect="1"/>
          </p:cNvPicPr>
          <p:nvPr/>
        </p:nvPicPr>
        <p:blipFill>
          <a:blip r:embed="rId2"/>
          <a:stretch>
            <a:fillRect/>
          </a:stretch>
        </p:blipFill>
        <p:spPr>
          <a:xfrm>
            <a:off x="2858424" y="4162566"/>
            <a:ext cx="5248346" cy="2414575"/>
          </a:xfrm>
          <a:prstGeom prst="rect">
            <a:avLst/>
          </a:prstGeom>
        </p:spPr>
      </p:pic>
    </p:spTree>
    <p:extLst>
      <p:ext uri="{BB962C8B-B14F-4D97-AF65-F5344CB8AC3E}">
        <p14:creationId xmlns:p14="http://schemas.microsoft.com/office/powerpoint/2010/main" val="2477408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3352" y="521813"/>
            <a:ext cx="9881335" cy="5928801"/>
          </a:xfrm>
          <a:prstGeom prst="rect">
            <a:avLst/>
          </a:prstGeom>
        </p:spPr>
      </p:pic>
    </p:spTree>
    <p:extLst>
      <p:ext uri="{BB962C8B-B14F-4D97-AF65-F5344CB8AC3E}">
        <p14:creationId xmlns:p14="http://schemas.microsoft.com/office/powerpoint/2010/main" val="21813355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4476" y="291578"/>
            <a:ext cx="6233046" cy="6129162"/>
          </a:xfrm>
          <a:prstGeom prst="rect">
            <a:avLst/>
          </a:prstGeom>
        </p:spPr>
      </p:pic>
    </p:spTree>
    <p:extLst>
      <p:ext uri="{BB962C8B-B14F-4D97-AF65-F5344CB8AC3E}">
        <p14:creationId xmlns:p14="http://schemas.microsoft.com/office/powerpoint/2010/main" val="18109401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4346" y="1301101"/>
            <a:ext cx="6029548" cy="4100092"/>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9896" y="1301101"/>
            <a:ext cx="4100092" cy="4100092"/>
          </a:xfrm>
          <a:prstGeom prst="rect">
            <a:avLst/>
          </a:prstGeom>
        </p:spPr>
      </p:pic>
    </p:spTree>
    <p:extLst>
      <p:ext uri="{BB962C8B-B14F-4D97-AF65-F5344CB8AC3E}">
        <p14:creationId xmlns:p14="http://schemas.microsoft.com/office/powerpoint/2010/main" val="303082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t="33935" b="11785"/>
          <a:stretch/>
        </p:blipFill>
        <p:spPr>
          <a:xfrm>
            <a:off x="1024008" y="1883392"/>
            <a:ext cx="10143145" cy="3098041"/>
          </a:xfrm>
          <a:prstGeom prst="rect">
            <a:avLst/>
          </a:prstGeom>
        </p:spPr>
      </p:pic>
    </p:spTree>
    <p:extLst>
      <p:ext uri="{BB962C8B-B14F-4D97-AF65-F5344CB8AC3E}">
        <p14:creationId xmlns:p14="http://schemas.microsoft.com/office/powerpoint/2010/main" val="2374593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33906" y="391952"/>
            <a:ext cx="5697394" cy="369332"/>
          </a:xfrm>
          <a:prstGeom prst="rect">
            <a:avLst/>
          </a:prstGeom>
        </p:spPr>
        <p:txBody>
          <a:bodyPr wrap="none">
            <a:spAutoFit/>
          </a:bodyPr>
          <a:lstStyle/>
          <a:p>
            <a:r>
              <a:rPr lang="en-US" b="1" dirty="0"/>
              <a:t>Derivation for Numerical Aperture of Optical Fiber</a:t>
            </a: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b="6197"/>
          <a:stretch/>
        </p:blipFill>
        <p:spPr>
          <a:xfrm>
            <a:off x="1665157" y="1196310"/>
            <a:ext cx="9345181" cy="4685875"/>
          </a:xfrm>
          <a:prstGeom prst="rect">
            <a:avLst/>
          </a:prstGeom>
        </p:spPr>
      </p:pic>
    </p:spTree>
    <p:extLst>
      <p:ext uri="{BB962C8B-B14F-4D97-AF65-F5344CB8AC3E}">
        <p14:creationId xmlns:p14="http://schemas.microsoft.com/office/powerpoint/2010/main" val="42256821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0845" y="1228156"/>
            <a:ext cx="5238750" cy="361950"/>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0845" y="2447853"/>
            <a:ext cx="4953000" cy="542925"/>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0845" y="3722994"/>
            <a:ext cx="6855447" cy="1695165"/>
          </a:xfrm>
          <a:prstGeom prst="rect">
            <a:avLst/>
          </a:prstGeom>
        </p:spPr>
      </p:pic>
    </p:spTree>
    <p:extLst>
      <p:ext uri="{BB962C8B-B14F-4D97-AF65-F5344CB8AC3E}">
        <p14:creationId xmlns:p14="http://schemas.microsoft.com/office/powerpoint/2010/main" val="4655707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5312" y="822206"/>
            <a:ext cx="5238750" cy="409575"/>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5312" y="2003662"/>
            <a:ext cx="5238750" cy="1485900"/>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5311" y="4261443"/>
            <a:ext cx="3010071" cy="842820"/>
          </a:xfrm>
          <a:prstGeom prst="rect">
            <a:avLst/>
          </a:prstGeom>
        </p:spPr>
      </p:pic>
    </p:spTree>
    <p:extLst>
      <p:ext uri="{BB962C8B-B14F-4D97-AF65-F5344CB8AC3E}">
        <p14:creationId xmlns:p14="http://schemas.microsoft.com/office/powerpoint/2010/main" val="2576790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6255" y="684591"/>
            <a:ext cx="6142482" cy="1731063"/>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6254" y="3058448"/>
            <a:ext cx="3100229" cy="1472609"/>
          </a:xfrm>
          <a:prstGeom prst="rect">
            <a:avLst/>
          </a:prstGeom>
        </p:spPr>
      </p:pic>
    </p:spTree>
    <p:extLst>
      <p:ext uri="{BB962C8B-B14F-4D97-AF65-F5344CB8AC3E}">
        <p14:creationId xmlns:p14="http://schemas.microsoft.com/office/powerpoint/2010/main" val="10175522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30343" y="501134"/>
            <a:ext cx="2231701" cy="430887"/>
          </a:xfrm>
          <a:prstGeom prst="rect">
            <a:avLst/>
          </a:prstGeom>
        </p:spPr>
        <p:txBody>
          <a:bodyPr wrap="none">
            <a:spAutoFit/>
          </a:bodyPr>
          <a:lstStyle/>
          <a:p>
            <a:r>
              <a:rPr lang="en-US" sz="2200" b="1" dirty="0">
                <a:latin typeface="Times New Roman" panose="02020603050405020304" pitchFamily="18" charset="0"/>
                <a:cs typeface="Times New Roman" panose="02020603050405020304" pitchFamily="18" charset="0"/>
              </a:rPr>
              <a:t>Step-Index Fiber</a:t>
            </a:r>
            <a:endParaRPr lang="en-US" sz="22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6219" y="2550140"/>
            <a:ext cx="5599990" cy="3683215"/>
          </a:xfrm>
          <a:prstGeom prst="rect">
            <a:avLst/>
          </a:prstGeom>
        </p:spPr>
      </p:pic>
      <p:sp>
        <p:nvSpPr>
          <p:cNvPr id="4" name="Rectangle 3"/>
          <p:cNvSpPr/>
          <p:nvPr/>
        </p:nvSpPr>
        <p:spPr>
          <a:xfrm>
            <a:off x="630343" y="1011359"/>
            <a:ext cx="10970254" cy="1323439"/>
          </a:xfrm>
          <a:prstGeom prst="rect">
            <a:avLst/>
          </a:prstGeom>
        </p:spPr>
        <p:txBody>
          <a:bodyPr wrap="square">
            <a:spAutoFit/>
          </a:bodyPr>
          <a:lstStyle/>
          <a:p>
            <a:pPr algn="just"/>
            <a:r>
              <a:rPr lang="en-US" sz="2000" dirty="0">
                <a:latin typeface="Times New Roman" panose="02020603050405020304" pitchFamily="18" charset="0"/>
                <a:cs typeface="Times New Roman" panose="02020603050405020304" pitchFamily="18" charset="0"/>
              </a:rPr>
              <a:t>a step-index profile is a refractive index profile characterized by a uniform refractive index within the core and a sharp decrease in refractive index at the core-cladding interface so that the cladding is of a lower refractive index. The step-index profile corresponds to a power-law index profile with the profile parameter approaching infinity. </a:t>
            </a:r>
          </a:p>
        </p:txBody>
      </p:sp>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r="50933"/>
          <a:stretch/>
        </p:blipFill>
        <p:spPr>
          <a:xfrm>
            <a:off x="6819892" y="2550140"/>
            <a:ext cx="3239422" cy="954848"/>
          </a:xfrm>
          <a:prstGeom prst="rect">
            <a:avLst/>
          </a:prstGeom>
        </p:spPr>
      </p:pic>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l="56176"/>
          <a:stretch/>
        </p:blipFill>
        <p:spPr>
          <a:xfrm>
            <a:off x="6819892" y="4049663"/>
            <a:ext cx="3324409" cy="1097140"/>
          </a:xfrm>
          <a:prstGeom prst="rect">
            <a:avLst/>
          </a:prstGeom>
        </p:spPr>
      </p:pic>
    </p:spTree>
    <p:extLst>
      <p:ext uri="{BB962C8B-B14F-4D97-AF65-F5344CB8AC3E}">
        <p14:creationId xmlns:p14="http://schemas.microsoft.com/office/powerpoint/2010/main" val="34668630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86937" y="890350"/>
            <a:ext cx="10586114" cy="2246769"/>
          </a:xfrm>
          <a:prstGeom prst="rect">
            <a:avLst/>
          </a:prstGeom>
        </p:spPr>
        <p:txBody>
          <a:bodyPr wrap="square">
            <a:spAutoFit/>
          </a:bodyPr>
          <a:lstStyle/>
          <a:p>
            <a:pPr algn="just"/>
            <a:r>
              <a:rPr lang="en-US" sz="2000" dirty="0">
                <a:latin typeface="Times New Roman" panose="02020603050405020304" pitchFamily="18" charset="0"/>
                <a:cs typeface="Times New Roman" panose="02020603050405020304" pitchFamily="18" charset="0"/>
              </a:rPr>
              <a:t> a graded index is an optical fiber whose core has a refractive index that decreases with increasing radial distance from the optical axis of the fiber.</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Because parts of the core closer to the fiber axis have a higher refractive index than the parts near the cladding, light rays follow sinusoidal paths down the fiber. The most common refractive index profile for a graded-index fiber is very nearly parabolic. The parabolic profile results in continual refocusing of the rays in the core, and minimizes modal dispersion. </a:t>
            </a:r>
          </a:p>
        </p:txBody>
      </p:sp>
      <p:pic>
        <p:nvPicPr>
          <p:cNvPr id="6" name="Picture 5"/>
          <p:cNvPicPr>
            <a:picLocks noChangeAspect="1"/>
          </p:cNvPicPr>
          <p:nvPr/>
        </p:nvPicPr>
        <p:blipFill>
          <a:blip r:embed="rId2"/>
          <a:stretch>
            <a:fillRect/>
          </a:stretch>
        </p:blipFill>
        <p:spPr>
          <a:xfrm>
            <a:off x="6209731" y="3515481"/>
            <a:ext cx="5334000" cy="1162050"/>
          </a:xfrm>
          <a:prstGeom prst="rect">
            <a:avLst/>
          </a:prstGeom>
        </p:spPr>
      </p:pic>
      <p:pic>
        <p:nvPicPr>
          <p:cNvPr id="9" name="Picture 8"/>
          <p:cNvPicPr>
            <a:picLocks noChangeAspect="1"/>
          </p:cNvPicPr>
          <p:nvPr/>
        </p:nvPicPr>
        <p:blipFill>
          <a:blip r:embed="rId3"/>
          <a:stretch>
            <a:fillRect/>
          </a:stretch>
        </p:blipFill>
        <p:spPr>
          <a:xfrm>
            <a:off x="798962" y="3339482"/>
            <a:ext cx="5017686" cy="2676099"/>
          </a:xfrm>
          <a:prstGeom prst="rect">
            <a:avLst/>
          </a:prstGeom>
        </p:spPr>
      </p:pic>
      <p:sp>
        <p:nvSpPr>
          <p:cNvPr id="10" name="Rectangle 9"/>
          <p:cNvSpPr/>
          <p:nvPr/>
        </p:nvSpPr>
        <p:spPr>
          <a:xfrm>
            <a:off x="686937" y="419837"/>
            <a:ext cx="2880917" cy="430887"/>
          </a:xfrm>
          <a:prstGeom prst="rect">
            <a:avLst/>
          </a:prstGeom>
        </p:spPr>
        <p:txBody>
          <a:bodyPr wrap="none">
            <a:spAutoFit/>
          </a:bodyPr>
          <a:lstStyle/>
          <a:p>
            <a:r>
              <a:rPr lang="en-US" sz="2200" b="1" dirty="0"/>
              <a:t>Graded-Index Fiber</a:t>
            </a:r>
          </a:p>
        </p:txBody>
      </p:sp>
    </p:spTree>
    <p:extLst>
      <p:ext uri="{BB962C8B-B14F-4D97-AF65-F5344CB8AC3E}">
        <p14:creationId xmlns:p14="http://schemas.microsoft.com/office/powerpoint/2010/main" val="582204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5175" y="707368"/>
            <a:ext cx="10531523" cy="1323439"/>
          </a:xfrm>
          <a:prstGeom prst="rect">
            <a:avLst/>
          </a:prstGeom>
        </p:spPr>
        <p:txBody>
          <a:bodyPr wrap="square">
            <a:spAutoFit/>
          </a:bodyPr>
          <a:lstStyle/>
          <a:p>
            <a:r>
              <a:rPr lang="en-US" sz="2000" dirty="0">
                <a:latin typeface="Times New Roman" panose="02020603050405020304" pitchFamily="18" charset="0"/>
                <a:cs typeface="Times New Roman" panose="02020603050405020304" pitchFamily="18" charset="0"/>
              </a:rPr>
              <a:t>let n = 1, n</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 1.46 and n</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 1.45  of core and cladding of an optical fiber system above. Find</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 the critical angle </a:t>
            </a:r>
            <a:r>
              <a:rPr lang="en-US" sz="2000" dirty="0" err="1">
                <a:latin typeface="Times New Roman" panose="02020603050405020304" pitchFamily="18" charset="0"/>
                <a:cs typeface="Times New Roman" panose="02020603050405020304" pitchFamily="18" charset="0"/>
              </a:rPr>
              <a:t>θ</a:t>
            </a:r>
            <a:r>
              <a:rPr lang="en-US" sz="2000" baseline="-25000" dirty="0" err="1">
                <a:latin typeface="Times New Roman" panose="02020603050405020304" pitchFamily="18" charset="0"/>
                <a:cs typeface="Times New Roman" panose="02020603050405020304" pitchFamily="18" charset="0"/>
              </a:rPr>
              <a:t>c</a:t>
            </a:r>
            <a:r>
              <a:rPr lang="en-US" sz="2000" dirty="0">
                <a:latin typeface="Times New Roman" panose="02020603050405020304" pitchFamily="18" charset="0"/>
                <a:cs typeface="Times New Roman" panose="02020603050405020304" pitchFamily="18" charset="0"/>
              </a:rPr>
              <a:t> at the core - cladding interface.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b) the numerical aperture N.A. of the optical fiber</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c) the angle of acceptance α</a:t>
            </a:r>
            <a:r>
              <a:rPr lang="en-US" sz="2000" baseline="-25000" dirty="0">
                <a:latin typeface="Times New Roman" panose="02020603050405020304" pitchFamily="18" charset="0"/>
                <a:cs typeface="Times New Roman" panose="02020603050405020304" pitchFamily="18" charset="0"/>
              </a:rPr>
              <a:t>max</a:t>
            </a:r>
            <a:r>
              <a:rPr lang="en-US" sz="2000" dirty="0">
                <a:latin typeface="Times New Roman" panose="02020603050405020304" pitchFamily="18" charset="0"/>
                <a:cs typeface="Times New Roman" panose="02020603050405020304" pitchFamily="18" charset="0"/>
              </a:rPr>
              <a:t> of the </a:t>
            </a:r>
            <a:r>
              <a:rPr lang="en-US" sz="2000" dirty="0" err="1">
                <a:latin typeface="Times New Roman" panose="02020603050405020304" pitchFamily="18" charset="0"/>
                <a:cs typeface="Times New Roman" panose="02020603050405020304" pitchFamily="18" charset="0"/>
              </a:rPr>
              <a:t>the</a:t>
            </a:r>
            <a:r>
              <a:rPr lang="en-US" sz="2000" dirty="0">
                <a:latin typeface="Times New Roman" panose="02020603050405020304" pitchFamily="18" charset="0"/>
                <a:cs typeface="Times New Roman" panose="02020603050405020304" pitchFamily="18" charset="0"/>
              </a:rPr>
              <a:t> optical fiber system.</a:t>
            </a:r>
          </a:p>
        </p:txBody>
      </p:sp>
    </p:spTree>
    <p:extLst>
      <p:ext uri="{BB962C8B-B14F-4D97-AF65-F5344CB8AC3E}">
        <p14:creationId xmlns:p14="http://schemas.microsoft.com/office/powerpoint/2010/main" val="11585400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32345" y="401556"/>
            <a:ext cx="10749888" cy="707886"/>
          </a:xfrm>
          <a:prstGeom prst="rect">
            <a:avLst/>
          </a:prstGeom>
        </p:spPr>
        <p:txBody>
          <a:bodyPr wrap="square">
            <a:spAutoFit/>
          </a:bodyPr>
          <a:lstStyle/>
          <a:p>
            <a:pPr algn="just"/>
            <a:r>
              <a:rPr lang="en-US" sz="2000" dirty="0">
                <a:latin typeface="Times New Roman" panose="02020603050405020304" pitchFamily="18" charset="0"/>
                <a:cs typeface="Times New Roman" panose="02020603050405020304" pitchFamily="18" charset="0"/>
              </a:rPr>
              <a:t>Find n</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and n</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such that the acceptance α</a:t>
            </a:r>
            <a:r>
              <a:rPr lang="en-US" sz="2000" baseline="-25000" dirty="0">
                <a:latin typeface="Times New Roman" panose="02020603050405020304" pitchFamily="18" charset="0"/>
                <a:cs typeface="Times New Roman" panose="02020603050405020304" pitchFamily="18" charset="0"/>
              </a:rPr>
              <a:t>max</a:t>
            </a:r>
            <a:r>
              <a:rPr lang="en-US" sz="2000" dirty="0">
                <a:latin typeface="Times New Roman" panose="02020603050405020304" pitchFamily="18" charset="0"/>
                <a:cs typeface="Times New Roman" panose="02020603050405020304" pitchFamily="18" charset="0"/>
              </a:rPr>
              <a:t> = 10° and the critical angle at the core - cladding interface </a:t>
            </a:r>
            <a:r>
              <a:rPr lang="en-US" sz="2000" dirty="0" err="1">
                <a:latin typeface="Times New Roman" panose="02020603050405020304" pitchFamily="18" charset="0"/>
                <a:cs typeface="Times New Roman" panose="02020603050405020304" pitchFamily="18" charset="0"/>
              </a:rPr>
              <a:t>θ</a:t>
            </a:r>
            <a:r>
              <a:rPr lang="en-US" sz="2000" baseline="-25000" dirty="0" err="1">
                <a:latin typeface="Times New Roman" panose="02020603050405020304" pitchFamily="18" charset="0"/>
                <a:cs typeface="Times New Roman" panose="02020603050405020304" pitchFamily="18" charset="0"/>
              </a:rPr>
              <a:t>c</a:t>
            </a:r>
            <a:r>
              <a:rPr lang="en-US" sz="2000" dirty="0">
                <a:latin typeface="Times New Roman" panose="02020603050405020304" pitchFamily="18" charset="0"/>
                <a:cs typeface="Times New Roman" panose="02020603050405020304" pitchFamily="18" charset="0"/>
              </a:rPr>
              <a:t> = 82 ° .</a:t>
            </a:r>
          </a:p>
        </p:txBody>
      </p:sp>
      <p:graphicFrame>
        <p:nvGraphicFramePr>
          <p:cNvPr id="4" name="Object 3"/>
          <p:cNvGraphicFramePr>
            <a:graphicFrameLocks noChangeAspect="1"/>
          </p:cNvGraphicFramePr>
          <p:nvPr>
            <p:extLst>
              <p:ext uri="{D42A27DB-BD31-4B8C-83A1-F6EECF244321}">
                <p14:modId xmlns:p14="http://schemas.microsoft.com/office/powerpoint/2010/main" val="2781505263"/>
              </p:ext>
            </p:extLst>
          </p:nvPr>
        </p:nvGraphicFramePr>
        <p:xfrm>
          <a:off x="1379559" y="1552173"/>
          <a:ext cx="3222303" cy="1177380"/>
        </p:xfrm>
        <a:graphic>
          <a:graphicData uri="http://schemas.openxmlformats.org/presentationml/2006/ole">
            <mc:AlternateContent xmlns:mc="http://schemas.openxmlformats.org/markup-compatibility/2006">
              <mc:Choice xmlns:v="urn:schemas-microsoft-com:vml" Requires="v">
                <p:oleObj name="Equation" r:id="rId2" imgW="1320480" imgH="482400" progId="Equation.DSMT4">
                  <p:embed/>
                </p:oleObj>
              </mc:Choice>
              <mc:Fallback>
                <p:oleObj name="Equation" r:id="rId2" imgW="1320480" imgH="482400" progId="Equation.DSMT4">
                  <p:embed/>
                  <p:pic>
                    <p:nvPicPr>
                      <p:cNvPr id="0" name=""/>
                      <p:cNvPicPr/>
                      <p:nvPr/>
                    </p:nvPicPr>
                    <p:blipFill>
                      <a:blip r:embed="rId3"/>
                      <a:stretch>
                        <a:fillRect/>
                      </a:stretch>
                    </p:blipFill>
                    <p:spPr>
                      <a:xfrm>
                        <a:off x="1379559" y="1552173"/>
                        <a:ext cx="3222303" cy="1177380"/>
                      </a:xfrm>
                      <a:prstGeom prst="rect">
                        <a:avLst/>
                      </a:prstGeom>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2387832561"/>
              </p:ext>
            </p:extLst>
          </p:nvPr>
        </p:nvGraphicFramePr>
        <p:xfrm>
          <a:off x="1593564" y="2930984"/>
          <a:ext cx="2159569" cy="1243388"/>
        </p:xfrm>
        <a:graphic>
          <a:graphicData uri="http://schemas.openxmlformats.org/presentationml/2006/ole">
            <mc:AlternateContent xmlns:mc="http://schemas.openxmlformats.org/markup-compatibility/2006">
              <mc:Choice xmlns:v="urn:schemas-microsoft-com:vml" Requires="v">
                <p:oleObj name="Equation" r:id="rId4" imgW="838080" imgH="482400" progId="Equation.DSMT4">
                  <p:embed/>
                </p:oleObj>
              </mc:Choice>
              <mc:Fallback>
                <p:oleObj name="Equation" r:id="rId4" imgW="838080" imgH="482400" progId="Equation.DSMT4">
                  <p:embed/>
                  <p:pic>
                    <p:nvPicPr>
                      <p:cNvPr id="0" name=""/>
                      <p:cNvPicPr/>
                      <p:nvPr/>
                    </p:nvPicPr>
                    <p:blipFill>
                      <a:blip r:embed="rId5"/>
                      <a:stretch>
                        <a:fillRect/>
                      </a:stretch>
                    </p:blipFill>
                    <p:spPr>
                      <a:xfrm>
                        <a:off x="1593564" y="2930984"/>
                        <a:ext cx="2159569" cy="1243388"/>
                      </a:xfrm>
                      <a:prstGeom prst="rect">
                        <a:avLst/>
                      </a:prstGeom>
                    </p:spPr>
                  </p:pic>
                </p:oleObj>
              </mc:Fallback>
            </mc:AlternateContent>
          </a:graphicData>
        </a:graphic>
      </p:graphicFrame>
    </p:spTree>
    <p:extLst>
      <p:ext uri="{BB962C8B-B14F-4D97-AF65-F5344CB8AC3E}">
        <p14:creationId xmlns:p14="http://schemas.microsoft.com/office/powerpoint/2010/main" val="2441841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5993" y="748311"/>
            <a:ext cx="10818125" cy="1323439"/>
          </a:xfrm>
          <a:prstGeom prst="rect">
            <a:avLst/>
          </a:prstGeom>
        </p:spPr>
        <p:txBody>
          <a:bodyPr wrap="square">
            <a:spAutoFit/>
          </a:bodyPr>
          <a:lstStyle/>
          <a:p>
            <a:pPr algn="just"/>
            <a:r>
              <a:rPr lang="en-US" sz="2000" dirty="0">
                <a:latin typeface="Times New Roman" panose="02020603050405020304" pitchFamily="18" charset="0"/>
                <a:cs typeface="Times New Roman" panose="02020603050405020304" pitchFamily="18" charset="0"/>
              </a:rPr>
              <a:t>A step-index fiber has a core index of refraction of </a:t>
            </a:r>
            <a:r>
              <a:rPr lang="en-US" sz="2000" i="1" dirty="0">
                <a:latin typeface="Times New Roman" panose="02020603050405020304" pitchFamily="18" charset="0"/>
                <a:cs typeface="Times New Roman" panose="02020603050405020304" pitchFamily="18" charset="0"/>
              </a:rPr>
              <a:t>n</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 1.425.  The cut-off angle for light entering the fiber from air is found to be 8.50</a:t>
            </a:r>
            <a:r>
              <a:rPr lang="en-US" sz="2000" baseline="30000" dirty="0">
                <a:latin typeface="Times New Roman" panose="02020603050405020304" pitchFamily="18" charset="0"/>
                <a:cs typeface="Times New Roman" panose="02020603050405020304" pitchFamily="18" charset="0"/>
              </a:rPr>
              <a:t>o</a:t>
            </a:r>
            <a:r>
              <a:rPr lang="en-US" sz="2000" dirty="0">
                <a:latin typeface="Times New Roman" panose="02020603050405020304" pitchFamily="18" charset="0"/>
                <a:cs typeface="Times New Roman" panose="02020603050405020304" pitchFamily="18" charset="0"/>
              </a:rPr>
              <a:t>.  (a)  What is the numerical aperture of the fiber?  (b)  What is the index of refraction of the cladding of this fiber?  (c)  If the fiber were submersed in water, what would be the new numerical aperture and cut-off angle?</a:t>
            </a:r>
          </a:p>
        </p:txBody>
      </p:sp>
      <p:sp>
        <p:nvSpPr>
          <p:cNvPr id="3" name="Rectangle 2"/>
          <p:cNvSpPr/>
          <p:nvPr/>
        </p:nvSpPr>
        <p:spPr>
          <a:xfrm>
            <a:off x="1131280" y="2411821"/>
            <a:ext cx="1986441" cy="369332"/>
          </a:xfrm>
          <a:prstGeom prst="rect">
            <a:avLst/>
          </a:prstGeom>
        </p:spPr>
        <p:txBody>
          <a:bodyPr wrap="none">
            <a:spAutoFit/>
          </a:bodyPr>
          <a:lstStyle/>
          <a:p>
            <a:r>
              <a:rPr lang="en-US" dirty="0"/>
              <a:t>NA = </a:t>
            </a:r>
            <a:r>
              <a:rPr lang="en-US" i="1" dirty="0"/>
              <a:t>n</a:t>
            </a:r>
            <a:r>
              <a:rPr lang="en-US" baseline="-25000" dirty="0"/>
              <a:t>0</a:t>
            </a:r>
            <a:r>
              <a:rPr lang="en-US" dirty="0"/>
              <a:t> sin </a:t>
            </a:r>
            <a:r>
              <a:rPr lang="el-GR" dirty="0"/>
              <a:t>θ</a:t>
            </a:r>
            <a:r>
              <a:rPr lang="el-GR" baseline="-25000" dirty="0"/>
              <a:t>0</a:t>
            </a:r>
            <a:r>
              <a:rPr lang="en-US" baseline="-25000" dirty="0"/>
              <a:t>max</a:t>
            </a:r>
            <a:endParaRPr lang="en-US" dirty="0"/>
          </a:p>
        </p:txBody>
      </p:sp>
      <p:sp>
        <p:nvSpPr>
          <p:cNvPr id="4" name="Rectangle 3"/>
          <p:cNvSpPr/>
          <p:nvPr/>
        </p:nvSpPr>
        <p:spPr>
          <a:xfrm>
            <a:off x="1131280" y="3121224"/>
            <a:ext cx="1707519" cy="369332"/>
          </a:xfrm>
          <a:prstGeom prst="rect">
            <a:avLst/>
          </a:prstGeom>
        </p:spPr>
        <p:txBody>
          <a:bodyPr wrap="none">
            <a:spAutoFit/>
          </a:bodyPr>
          <a:lstStyle/>
          <a:p>
            <a:r>
              <a:rPr lang="en-US" i="1" dirty="0"/>
              <a:t>n</a:t>
            </a:r>
            <a:r>
              <a:rPr lang="en-US" baseline="-25000" dirty="0"/>
              <a:t>2</a:t>
            </a:r>
            <a:r>
              <a:rPr lang="en-US" baseline="30000" dirty="0"/>
              <a:t>2</a:t>
            </a:r>
            <a:r>
              <a:rPr lang="en-US" dirty="0"/>
              <a:t> = </a:t>
            </a:r>
            <a:r>
              <a:rPr lang="en-US" i="1" dirty="0"/>
              <a:t>n</a:t>
            </a:r>
            <a:r>
              <a:rPr lang="en-US" baseline="-25000" dirty="0"/>
              <a:t>1</a:t>
            </a:r>
            <a:r>
              <a:rPr lang="en-US" baseline="30000" dirty="0"/>
              <a:t>2</a:t>
            </a:r>
            <a:r>
              <a:rPr lang="en-US" dirty="0"/>
              <a:t> - NA</a:t>
            </a:r>
            <a:r>
              <a:rPr lang="en-US" baseline="30000" dirty="0"/>
              <a:t>2</a:t>
            </a:r>
            <a:endParaRPr lang="en-US" dirty="0"/>
          </a:p>
        </p:txBody>
      </p:sp>
      <p:sp>
        <p:nvSpPr>
          <p:cNvPr id="5" name="Rectangle 4"/>
          <p:cNvSpPr/>
          <p:nvPr/>
        </p:nvSpPr>
        <p:spPr>
          <a:xfrm>
            <a:off x="1131280" y="3888350"/>
            <a:ext cx="2023311" cy="369332"/>
          </a:xfrm>
          <a:prstGeom prst="rect">
            <a:avLst/>
          </a:prstGeom>
        </p:spPr>
        <p:txBody>
          <a:bodyPr wrap="none">
            <a:spAutoFit/>
          </a:bodyPr>
          <a:lstStyle/>
          <a:p>
            <a:r>
              <a:rPr lang="en-US" dirty="0"/>
              <a:t>sin </a:t>
            </a:r>
            <a:r>
              <a:rPr lang="el-GR" dirty="0"/>
              <a:t>θ</a:t>
            </a:r>
            <a:r>
              <a:rPr lang="el-GR" baseline="-25000" dirty="0"/>
              <a:t>0</a:t>
            </a:r>
            <a:r>
              <a:rPr lang="en-US" baseline="-25000" dirty="0"/>
              <a:t>max</a:t>
            </a:r>
            <a:r>
              <a:rPr lang="en-US" dirty="0"/>
              <a:t> = NA/</a:t>
            </a:r>
            <a:r>
              <a:rPr lang="en-US" i="1" dirty="0"/>
              <a:t>n</a:t>
            </a:r>
            <a:r>
              <a:rPr lang="en-US" baseline="-25000" dirty="0"/>
              <a:t>0</a:t>
            </a:r>
            <a:endParaRPr lang="en-US" dirty="0"/>
          </a:p>
        </p:txBody>
      </p:sp>
      <p:sp>
        <p:nvSpPr>
          <p:cNvPr id="6" name="Rectangle 5"/>
          <p:cNvSpPr/>
          <p:nvPr/>
        </p:nvSpPr>
        <p:spPr>
          <a:xfrm>
            <a:off x="645993" y="5164824"/>
            <a:ext cx="10395045" cy="400110"/>
          </a:xfrm>
          <a:prstGeom prst="rect">
            <a:avLst/>
          </a:prstGeom>
        </p:spPr>
        <p:txBody>
          <a:bodyPr wrap="square">
            <a:spAutoFit/>
          </a:bodyPr>
          <a:lstStyle/>
          <a:p>
            <a:r>
              <a:rPr lang="en-US" sz="2000" b="1" dirty="0">
                <a:solidFill>
                  <a:srgbClr val="FFFF00"/>
                </a:solidFill>
                <a:latin typeface="Times New Roman" panose="02020603050405020304" pitchFamily="18" charset="0"/>
                <a:cs typeface="Times New Roman" panose="02020603050405020304" pitchFamily="18" charset="0"/>
              </a:rPr>
              <a:t>Find the acceptance angle of a material which has a numerical aperture of 0.707 in air.</a:t>
            </a:r>
          </a:p>
        </p:txBody>
      </p:sp>
    </p:spTree>
    <p:extLst>
      <p:ext uri="{BB962C8B-B14F-4D97-AF65-F5344CB8AC3E}">
        <p14:creationId xmlns:p14="http://schemas.microsoft.com/office/powerpoint/2010/main" val="261941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3446059" y="299114"/>
            <a:ext cx="5520520" cy="697173"/>
          </a:xfrm>
          <a:prstGeom prst="rect">
            <a:avLst/>
          </a:prstGeom>
        </p:spPr>
        <p:txBody>
          <a:bodyPr>
            <a:normAutofit/>
          </a:bodyPr>
          <a:lst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dirty="0">
                <a:solidFill>
                  <a:schemeClr val="tx1"/>
                </a:solidFill>
                <a:effectLst>
                  <a:outerShdw blurRad="38100" dist="38100" dir="2700000" algn="tl">
                    <a:srgbClr val="000000">
                      <a:alpha val="43137"/>
                    </a:srgbClr>
                  </a:outerShdw>
                </a:effectLst>
              </a:rPr>
              <a:t>Classification of optical fiber</a:t>
            </a:r>
          </a:p>
        </p:txBody>
      </p:sp>
      <p:pic>
        <p:nvPicPr>
          <p:cNvPr id="5" name="Content Placeholder 3" descr="D:\Department\Assignment &amp; Question Bank\FIBER OPTICS\17.jpg"/>
          <p:cNvPicPr>
            <a:picLocks/>
          </p:cNvPicPr>
          <p:nvPr/>
        </p:nvPicPr>
        <p:blipFill>
          <a:blip r:embed="rId2" cstate="print"/>
          <a:srcRect/>
          <a:stretch>
            <a:fillRect/>
          </a:stretch>
        </p:blipFill>
        <p:spPr bwMode="auto">
          <a:xfrm>
            <a:off x="1378424" y="1190767"/>
            <a:ext cx="9403307" cy="5128146"/>
          </a:xfrm>
          <a:prstGeom prst="rect">
            <a:avLst/>
          </a:prstGeom>
          <a:noFill/>
          <a:ln w="9525">
            <a:noFill/>
            <a:miter lim="800000"/>
            <a:headEnd/>
            <a:tailEnd/>
          </a:ln>
        </p:spPr>
      </p:pic>
    </p:spTree>
    <p:extLst>
      <p:ext uri="{BB962C8B-B14F-4D97-AF65-F5344CB8AC3E}">
        <p14:creationId xmlns:p14="http://schemas.microsoft.com/office/powerpoint/2010/main" val="26706734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679398" y="181820"/>
            <a:ext cx="6736524" cy="492443"/>
          </a:xfrm>
          <a:prstGeom prst="rect">
            <a:avLst/>
          </a:prstGeom>
        </p:spPr>
        <p:txBody>
          <a:bodyPr wrap="none">
            <a:spAutoFit/>
          </a:bodyPr>
          <a:lstStyle/>
          <a:p>
            <a:r>
              <a:rPr lang="en-US" sz="2600" b="1" dirty="0">
                <a:latin typeface="Times New Roman" panose="02020603050405020304" pitchFamily="18" charset="0"/>
                <a:cs typeface="Times New Roman" panose="02020603050405020304" pitchFamily="18" charset="0"/>
              </a:rPr>
              <a:t>Classification of optical </a:t>
            </a:r>
            <a:r>
              <a:rPr lang="en-US" sz="2600" b="1" dirty="0" err="1">
                <a:latin typeface="Times New Roman" panose="02020603050405020304" pitchFamily="18" charset="0"/>
                <a:cs typeface="Times New Roman" panose="02020603050405020304" pitchFamily="18" charset="0"/>
              </a:rPr>
              <a:t>fibres</a:t>
            </a:r>
            <a:r>
              <a:rPr lang="en-US" sz="2600" b="1" dirty="0">
                <a:latin typeface="Times New Roman" panose="02020603050405020304" pitchFamily="18" charset="0"/>
                <a:cs typeface="Times New Roman" panose="02020603050405020304" pitchFamily="18" charset="0"/>
              </a:rPr>
              <a:t> based on modes</a:t>
            </a:r>
            <a:endParaRPr lang="en-US" sz="2600" dirty="0">
              <a:latin typeface="Times New Roman" panose="02020603050405020304" pitchFamily="18" charset="0"/>
              <a:cs typeface="Times New Roman" panose="02020603050405020304" pitchFamily="18" charset="0"/>
            </a:endParaRPr>
          </a:p>
        </p:txBody>
      </p:sp>
      <p:sp>
        <p:nvSpPr>
          <p:cNvPr id="4" name="Rectangle 3"/>
          <p:cNvSpPr/>
          <p:nvPr/>
        </p:nvSpPr>
        <p:spPr>
          <a:xfrm>
            <a:off x="972457" y="1204463"/>
            <a:ext cx="9027886" cy="369332"/>
          </a:xfrm>
          <a:prstGeom prst="rect">
            <a:avLst/>
          </a:prstGeom>
        </p:spPr>
        <p:txBody>
          <a:bodyPr wrap="square">
            <a:spAutoFit/>
          </a:bodyPr>
          <a:lstStyle/>
          <a:p>
            <a:r>
              <a:rPr lang="en-US" dirty="0">
                <a:latin typeface="Times-Roman"/>
              </a:rPr>
              <a:t>On the basis of mode transmission, the optical </a:t>
            </a:r>
            <a:r>
              <a:rPr lang="en-US" dirty="0" err="1">
                <a:latin typeface="Times-Roman"/>
              </a:rPr>
              <a:t>fibre</a:t>
            </a:r>
            <a:r>
              <a:rPr lang="en-US" dirty="0">
                <a:latin typeface="Times-Roman"/>
              </a:rPr>
              <a:t> is classified into two modes</a:t>
            </a:r>
            <a:endParaRPr lang="en-US" dirty="0"/>
          </a:p>
        </p:txBody>
      </p:sp>
      <p:sp>
        <p:nvSpPr>
          <p:cNvPr id="5" name="Rectangle 4"/>
          <p:cNvSpPr/>
          <p:nvPr/>
        </p:nvSpPr>
        <p:spPr>
          <a:xfrm>
            <a:off x="972457" y="1919329"/>
            <a:ext cx="1556836" cy="369332"/>
          </a:xfrm>
          <a:prstGeom prst="rect">
            <a:avLst/>
          </a:prstGeom>
        </p:spPr>
        <p:txBody>
          <a:bodyPr wrap="none">
            <a:spAutoFit/>
          </a:bodyPr>
          <a:lstStyle/>
          <a:p>
            <a:r>
              <a:rPr lang="en-US" b="1">
                <a:latin typeface="Times-Bold"/>
              </a:rPr>
              <a:t>Single mode</a:t>
            </a:r>
            <a:endParaRPr lang="en-US" dirty="0"/>
          </a:p>
        </p:txBody>
      </p:sp>
      <p:sp>
        <p:nvSpPr>
          <p:cNvPr id="6" name="Rectangle 5"/>
          <p:cNvSpPr/>
          <p:nvPr/>
        </p:nvSpPr>
        <p:spPr>
          <a:xfrm>
            <a:off x="1049401" y="2750849"/>
            <a:ext cx="1402948" cy="369332"/>
          </a:xfrm>
          <a:prstGeom prst="rect">
            <a:avLst/>
          </a:prstGeom>
        </p:spPr>
        <p:txBody>
          <a:bodyPr wrap="none">
            <a:spAutoFit/>
          </a:bodyPr>
          <a:lstStyle/>
          <a:p>
            <a:r>
              <a:rPr lang="en-US" b="1" dirty="0">
                <a:latin typeface="Times-Bold"/>
              </a:rPr>
              <a:t>Multi mode</a:t>
            </a:r>
            <a:endParaRPr lang="en-US" dirty="0"/>
          </a:p>
        </p:txBody>
      </p:sp>
    </p:spTree>
    <p:extLst>
      <p:ext uri="{BB962C8B-B14F-4D97-AF65-F5344CB8AC3E}">
        <p14:creationId xmlns:p14="http://schemas.microsoft.com/office/powerpoint/2010/main" val="36722683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4057" y="946168"/>
            <a:ext cx="8040914" cy="2308324"/>
          </a:xfrm>
          <a:prstGeom prst="rect">
            <a:avLst/>
          </a:prstGeom>
        </p:spPr>
        <p:txBody>
          <a:bodyPr wrap="square">
            <a:spAutoFit/>
          </a:bodyPr>
          <a:lstStyle/>
          <a:p>
            <a:r>
              <a:rPr lang="en-US" b="1" dirty="0">
                <a:latin typeface="Times-Bold"/>
              </a:rPr>
              <a:t>Single mode</a:t>
            </a:r>
          </a:p>
          <a:p>
            <a:r>
              <a:rPr lang="en-US" dirty="0">
                <a:latin typeface="Symbol" panose="05050102010706020507" pitchFamily="18" charset="2"/>
              </a:rPr>
              <a:t>• </a:t>
            </a:r>
            <a:r>
              <a:rPr lang="en-US" dirty="0">
                <a:latin typeface="Times-Roman"/>
              </a:rPr>
              <a:t>Supports only one mode of propagation</a:t>
            </a:r>
          </a:p>
          <a:p>
            <a:r>
              <a:rPr lang="en-US" dirty="0">
                <a:latin typeface="Symbol" panose="05050102010706020507" pitchFamily="18" charset="2"/>
              </a:rPr>
              <a:t>• </a:t>
            </a:r>
            <a:r>
              <a:rPr lang="en-US" dirty="0">
                <a:latin typeface="Times-Roman"/>
              </a:rPr>
              <a:t>It has small core diameter 2 to 8 </a:t>
            </a:r>
            <a:r>
              <a:rPr lang="en-US" dirty="0" err="1">
                <a:latin typeface="TT1CDt00"/>
              </a:rPr>
              <a:t>μ</a:t>
            </a:r>
            <a:r>
              <a:rPr lang="en-US" dirty="0" err="1">
                <a:latin typeface="Times-Roman"/>
              </a:rPr>
              <a:t>m</a:t>
            </a:r>
            <a:endParaRPr lang="en-US" dirty="0">
              <a:latin typeface="Times-Roman"/>
            </a:endParaRPr>
          </a:p>
          <a:p>
            <a:r>
              <a:rPr lang="en-US" dirty="0">
                <a:latin typeface="Symbol" panose="05050102010706020507" pitchFamily="18" charset="2"/>
              </a:rPr>
              <a:t>• </a:t>
            </a:r>
            <a:r>
              <a:rPr lang="en-US" dirty="0">
                <a:latin typeface="Times-Roman"/>
              </a:rPr>
              <a:t>Light is launched into single mode </a:t>
            </a:r>
            <a:r>
              <a:rPr lang="en-US" dirty="0" err="1">
                <a:latin typeface="Times-Roman"/>
              </a:rPr>
              <a:t>fibre</a:t>
            </a:r>
            <a:r>
              <a:rPr lang="en-US" dirty="0">
                <a:latin typeface="Times-Roman"/>
              </a:rPr>
              <a:t> by using laser diode</a:t>
            </a:r>
          </a:p>
          <a:p>
            <a:r>
              <a:rPr lang="en-US" dirty="0">
                <a:latin typeface="Symbol" panose="05050102010706020507" pitchFamily="18" charset="2"/>
              </a:rPr>
              <a:t>• </a:t>
            </a:r>
            <a:r>
              <a:rPr lang="en-US" dirty="0">
                <a:latin typeface="Times-Roman"/>
              </a:rPr>
              <a:t>Used for long distance communications; ex: telephone</a:t>
            </a:r>
          </a:p>
          <a:p>
            <a:r>
              <a:rPr lang="en-US" dirty="0">
                <a:latin typeface="Symbol" panose="05050102010706020507" pitchFamily="18" charset="2"/>
              </a:rPr>
              <a:t>• </a:t>
            </a:r>
            <a:r>
              <a:rPr lang="en-US" dirty="0">
                <a:latin typeface="Times-Roman"/>
              </a:rPr>
              <a:t>It has higher band width</a:t>
            </a:r>
          </a:p>
          <a:p>
            <a:r>
              <a:rPr lang="en-US" dirty="0">
                <a:latin typeface="Symbol" panose="05050102010706020507" pitchFamily="18" charset="2"/>
              </a:rPr>
              <a:t>• </a:t>
            </a:r>
            <a:r>
              <a:rPr lang="en-US" dirty="0">
                <a:latin typeface="Times-Roman"/>
              </a:rPr>
              <a:t>It is free from intermodal dispersion</a:t>
            </a:r>
          </a:p>
          <a:p>
            <a:r>
              <a:rPr lang="en-US" dirty="0">
                <a:latin typeface="Symbol" panose="05050102010706020507" pitchFamily="18" charset="2"/>
              </a:rPr>
              <a:t>• </a:t>
            </a:r>
            <a:r>
              <a:rPr lang="en-US" dirty="0">
                <a:latin typeface="Times-Roman"/>
              </a:rPr>
              <a:t>V number of single mode fiber V&lt;2.405</a:t>
            </a:r>
            <a:endParaRPr lang="en-US" dirty="0"/>
          </a:p>
        </p:txBody>
      </p:sp>
    </p:spTree>
    <p:extLst>
      <p:ext uri="{BB962C8B-B14F-4D97-AF65-F5344CB8AC3E}">
        <p14:creationId xmlns:p14="http://schemas.microsoft.com/office/powerpoint/2010/main" val="30931786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27313" y="888110"/>
            <a:ext cx="7779657" cy="2308324"/>
          </a:xfrm>
          <a:prstGeom prst="rect">
            <a:avLst/>
          </a:prstGeom>
        </p:spPr>
        <p:txBody>
          <a:bodyPr wrap="square">
            <a:spAutoFit/>
          </a:bodyPr>
          <a:lstStyle/>
          <a:p>
            <a:r>
              <a:rPr lang="en-US" b="1">
                <a:latin typeface="Times-Bold"/>
              </a:rPr>
              <a:t>Multi mode</a:t>
            </a:r>
          </a:p>
          <a:p>
            <a:r>
              <a:rPr lang="en-US" dirty="0">
                <a:latin typeface="Symbol" panose="05050102010706020507" pitchFamily="18" charset="2"/>
              </a:rPr>
              <a:t>• </a:t>
            </a:r>
            <a:r>
              <a:rPr lang="en-US" dirty="0">
                <a:latin typeface="Times-Roman"/>
              </a:rPr>
              <a:t>It supports more than one mode. It can propagate hundreds of modes</a:t>
            </a:r>
          </a:p>
          <a:p>
            <a:r>
              <a:rPr lang="en-US" dirty="0">
                <a:latin typeface="Symbol" panose="05050102010706020507" pitchFamily="18" charset="2"/>
              </a:rPr>
              <a:t>• </a:t>
            </a:r>
            <a:r>
              <a:rPr lang="en-US" dirty="0">
                <a:latin typeface="Times-Roman"/>
              </a:rPr>
              <a:t>The core diameter if of the order of 50 </a:t>
            </a:r>
            <a:r>
              <a:rPr lang="en-US" dirty="0" err="1">
                <a:latin typeface="TT1CDt00"/>
              </a:rPr>
              <a:t>μ</a:t>
            </a:r>
            <a:r>
              <a:rPr lang="en-US" dirty="0" err="1">
                <a:latin typeface="Times-Roman"/>
              </a:rPr>
              <a:t>m</a:t>
            </a:r>
            <a:endParaRPr lang="en-US" dirty="0">
              <a:latin typeface="Times-Roman"/>
            </a:endParaRPr>
          </a:p>
          <a:p>
            <a:r>
              <a:rPr lang="en-US" dirty="0">
                <a:latin typeface="Symbol" panose="05050102010706020507" pitchFamily="18" charset="2"/>
              </a:rPr>
              <a:t>• </a:t>
            </a:r>
            <a:r>
              <a:rPr lang="en-US" dirty="0">
                <a:latin typeface="Times-Roman"/>
              </a:rPr>
              <a:t>Light is launched into multimode </a:t>
            </a:r>
            <a:r>
              <a:rPr lang="en-US" dirty="0" err="1">
                <a:latin typeface="Times-Roman"/>
              </a:rPr>
              <a:t>fibre</a:t>
            </a:r>
            <a:r>
              <a:rPr lang="en-US" dirty="0">
                <a:latin typeface="Times-Roman"/>
              </a:rPr>
              <a:t> using LED</a:t>
            </a:r>
          </a:p>
          <a:p>
            <a:r>
              <a:rPr lang="en-US" dirty="0">
                <a:latin typeface="Symbol" panose="05050102010706020507" pitchFamily="18" charset="2"/>
              </a:rPr>
              <a:t>• </a:t>
            </a:r>
            <a:r>
              <a:rPr lang="en-US" dirty="0">
                <a:latin typeface="Times-Roman"/>
              </a:rPr>
              <a:t>Used for short distance communication; ex: LAN</a:t>
            </a:r>
          </a:p>
          <a:p>
            <a:r>
              <a:rPr lang="en-US" dirty="0">
                <a:latin typeface="Symbol" panose="05050102010706020507" pitchFamily="18" charset="2"/>
              </a:rPr>
              <a:t>• </a:t>
            </a:r>
            <a:r>
              <a:rPr lang="en-US" dirty="0">
                <a:latin typeface="Times-Roman"/>
              </a:rPr>
              <a:t>Band width is 6 to 50 km for multi mode step index </a:t>
            </a:r>
            <a:r>
              <a:rPr lang="en-US" dirty="0" err="1">
                <a:latin typeface="Times-Roman"/>
              </a:rPr>
              <a:t>fibre</a:t>
            </a:r>
            <a:endParaRPr lang="en-US" dirty="0">
              <a:latin typeface="Times-Roman"/>
            </a:endParaRPr>
          </a:p>
          <a:p>
            <a:r>
              <a:rPr lang="en-US" dirty="0">
                <a:latin typeface="Symbol" panose="05050102010706020507" pitchFamily="18" charset="2"/>
              </a:rPr>
              <a:t>• </a:t>
            </a:r>
            <a:r>
              <a:rPr lang="en-US" dirty="0">
                <a:latin typeface="Times-Roman"/>
              </a:rPr>
              <a:t>It suffer from inter modal dispersion</a:t>
            </a:r>
          </a:p>
          <a:p>
            <a:r>
              <a:rPr lang="en-US" dirty="0">
                <a:latin typeface="Symbol" panose="05050102010706020507" pitchFamily="18" charset="2"/>
              </a:rPr>
              <a:t>• </a:t>
            </a:r>
            <a:r>
              <a:rPr lang="en-US" dirty="0">
                <a:latin typeface="Times-Roman"/>
              </a:rPr>
              <a:t>V number of multi mode fiber V&gt;2.405</a:t>
            </a:r>
            <a:endParaRPr lang="en-US" dirty="0"/>
          </a:p>
        </p:txBody>
      </p:sp>
    </p:spTree>
    <p:extLst>
      <p:ext uri="{BB962C8B-B14F-4D97-AF65-F5344CB8AC3E}">
        <p14:creationId xmlns:p14="http://schemas.microsoft.com/office/powerpoint/2010/main" val="376804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69165" y="326962"/>
            <a:ext cx="6583021" cy="492443"/>
          </a:xfrm>
          <a:prstGeom prst="rect">
            <a:avLst/>
          </a:prstGeom>
        </p:spPr>
        <p:txBody>
          <a:bodyPr wrap="none">
            <a:spAutoFit/>
          </a:bodyPr>
          <a:lstStyle/>
          <a:p>
            <a:r>
              <a:rPr lang="en-US" sz="2600" b="1">
                <a:latin typeface="Times New Roman" panose="02020603050405020304" pitchFamily="18" charset="0"/>
                <a:cs typeface="Times New Roman" panose="02020603050405020304" pitchFamily="18" charset="0"/>
              </a:rPr>
              <a:t>Classification of </a:t>
            </a:r>
            <a:r>
              <a:rPr lang="en-US" sz="2600" b="1" dirty="0" err="1">
                <a:latin typeface="Times New Roman" panose="02020603050405020304" pitchFamily="18" charset="0"/>
                <a:cs typeface="Times New Roman" panose="02020603050405020304" pitchFamily="18" charset="0"/>
              </a:rPr>
              <a:t>fibres</a:t>
            </a:r>
            <a:r>
              <a:rPr lang="en-US" sz="2600" b="1" dirty="0">
                <a:latin typeface="Times New Roman" panose="02020603050405020304" pitchFamily="18" charset="0"/>
                <a:cs typeface="Times New Roman" panose="02020603050405020304" pitchFamily="18" charset="0"/>
              </a:rPr>
              <a:t> based on index profile</a:t>
            </a:r>
          </a:p>
        </p:txBody>
      </p:sp>
      <p:sp>
        <p:nvSpPr>
          <p:cNvPr id="3" name="Rectangle 2"/>
          <p:cNvSpPr/>
          <p:nvPr/>
        </p:nvSpPr>
        <p:spPr>
          <a:xfrm>
            <a:off x="938541" y="2382319"/>
            <a:ext cx="1351652" cy="369332"/>
          </a:xfrm>
          <a:prstGeom prst="rect">
            <a:avLst/>
          </a:prstGeom>
        </p:spPr>
        <p:txBody>
          <a:bodyPr wrap="none">
            <a:spAutoFit/>
          </a:bodyPr>
          <a:lstStyle/>
          <a:p>
            <a:r>
              <a:rPr lang="en-US" b="1" dirty="0">
                <a:latin typeface="Times-Bold"/>
              </a:rPr>
              <a:t>Step index</a:t>
            </a:r>
            <a:endParaRPr lang="en-US" dirty="0"/>
          </a:p>
        </p:txBody>
      </p:sp>
      <p:sp>
        <p:nvSpPr>
          <p:cNvPr id="4" name="Rectangle 3"/>
          <p:cNvSpPr/>
          <p:nvPr/>
        </p:nvSpPr>
        <p:spPr>
          <a:xfrm>
            <a:off x="798286" y="1248174"/>
            <a:ext cx="10101943" cy="646331"/>
          </a:xfrm>
          <a:prstGeom prst="rect">
            <a:avLst/>
          </a:prstGeom>
        </p:spPr>
        <p:txBody>
          <a:bodyPr wrap="square">
            <a:spAutoFit/>
          </a:bodyPr>
          <a:lstStyle/>
          <a:p>
            <a:pPr algn="just"/>
            <a:r>
              <a:rPr lang="en-US" dirty="0">
                <a:latin typeface="Times-Roman"/>
              </a:rPr>
              <a:t>A </a:t>
            </a:r>
            <a:r>
              <a:rPr lang="en-US" dirty="0" err="1">
                <a:latin typeface="Times-Roman"/>
              </a:rPr>
              <a:t>fibre</a:t>
            </a:r>
            <a:r>
              <a:rPr lang="en-US" dirty="0">
                <a:latin typeface="Times-Roman"/>
              </a:rPr>
              <a:t> is characterized by its profile. The index profile is graphical representation of value of refractive index across the core diameter</a:t>
            </a:r>
            <a:endParaRPr lang="en-US" dirty="0"/>
          </a:p>
        </p:txBody>
      </p:sp>
      <p:sp>
        <p:nvSpPr>
          <p:cNvPr id="5" name="Rectangle 4"/>
          <p:cNvSpPr/>
          <p:nvPr/>
        </p:nvSpPr>
        <p:spPr>
          <a:xfrm>
            <a:off x="938541" y="4767484"/>
            <a:ext cx="1659429" cy="369332"/>
          </a:xfrm>
          <a:prstGeom prst="rect">
            <a:avLst/>
          </a:prstGeom>
        </p:spPr>
        <p:txBody>
          <a:bodyPr wrap="none">
            <a:spAutoFit/>
          </a:bodyPr>
          <a:lstStyle/>
          <a:p>
            <a:r>
              <a:rPr lang="en-US" b="1" dirty="0">
                <a:latin typeface="Times-Bold"/>
              </a:rPr>
              <a:t>Graded index</a:t>
            </a:r>
            <a:endParaRPr lang="en-US" dirty="0"/>
          </a:p>
        </p:txBody>
      </p:sp>
      <p:pic>
        <p:nvPicPr>
          <p:cNvPr id="6" name="Picture 5"/>
          <p:cNvPicPr>
            <a:picLocks noChangeAspect="1"/>
          </p:cNvPicPr>
          <p:nvPr/>
        </p:nvPicPr>
        <p:blipFill>
          <a:blip r:embed="rId2"/>
          <a:stretch>
            <a:fillRect/>
          </a:stretch>
        </p:blipFill>
        <p:spPr>
          <a:xfrm>
            <a:off x="3136948" y="2508247"/>
            <a:ext cx="4351271" cy="1584782"/>
          </a:xfrm>
          <a:prstGeom prst="rect">
            <a:avLst/>
          </a:prstGeom>
        </p:spPr>
      </p:pic>
      <p:pic>
        <p:nvPicPr>
          <p:cNvPr id="7" name="Picture 6"/>
          <p:cNvPicPr>
            <a:picLocks noChangeAspect="1"/>
          </p:cNvPicPr>
          <p:nvPr/>
        </p:nvPicPr>
        <p:blipFill>
          <a:blip r:embed="rId3"/>
          <a:stretch>
            <a:fillRect/>
          </a:stretch>
        </p:blipFill>
        <p:spPr>
          <a:xfrm>
            <a:off x="3006320" y="4706771"/>
            <a:ext cx="5658709" cy="1784319"/>
          </a:xfrm>
          <a:prstGeom prst="rect">
            <a:avLst/>
          </a:prstGeom>
        </p:spPr>
      </p:pic>
    </p:spTree>
    <p:extLst>
      <p:ext uri="{BB962C8B-B14F-4D97-AF65-F5344CB8AC3E}">
        <p14:creationId xmlns:p14="http://schemas.microsoft.com/office/powerpoint/2010/main" val="23823008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2857" y="391664"/>
            <a:ext cx="9419772" cy="369332"/>
          </a:xfrm>
          <a:prstGeom prst="rect">
            <a:avLst/>
          </a:prstGeom>
        </p:spPr>
        <p:txBody>
          <a:bodyPr wrap="square">
            <a:spAutoFit/>
          </a:bodyPr>
          <a:lstStyle/>
          <a:p>
            <a:r>
              <a:rPr lang="en-US" b="1" dirty="0">
                <a:latin typeface="Times-Bold"/>
              </a:rPr>
              <a:t>Based on refractive index and modes of fiber there are three different configurations</a:t>
            </a:r>
            <a:endParaRPr lang="en-US" dirty="0"/>
          </a:p>
        </p:txBody>
      </p:sp>
      <p:sp>
        <p:nvSpPr>
          <p:cNvPr id="3" name="Rectangle 2"/>
          <p:cNvSpPr/>
          <p:nvPr/>
        </p:nvSpPr>
        <p:spPr>
          <a:xfrm>
            <a:off x="522514" y="1025382"/>
            <a:ext cx="9956800" cy="2308324"/>
          </a:xfrm>
          <a:prstGeom prst="rect">
            <a:avLst/>
          </a:prstGeom>
        </p:spPr>
        <p:txBody>
          <a:bodyPr wrap="square">
            <a:spAutoFit/>
          </a:bodyPr>
          <a:lstStyle/>
          <a:p>
            <a:r>
              <a:rPr lang="en-US" b="1">
                <a:latin typeface="Times-Bold"/>
              </a:rPr>
              <a:t>Single mode step index </a:t>
            </a:r>
            <a:r>
              <a:rPr lang="en-US" b="1" dirty="0" err="1">
                <a:latin typeface="Times-Bold"/>
              </a:rPr>
              <a:t>fibre</a:t>
            </a:r>
            <a:r>
              <a:rPr lang="en-US" b="1" dirty="0">
                <a:latin typeface="Times-Bold"/>
              </a:rPr>
              <a:t>:</a:t>
            </a:r>
          </a:p>
          <a:p>
            <a:r>
              <a:rPr lang="en-US" dirty="0">
                <a:latin typeface="Symbol" panose="05050102010706020507" pitchFamily="18" charset="2"/>
              </a:rPr>
              <a:t>• </a:t>
            </a:r>
            <a:r>
              <a:rPr lang="en-US" dirty="0">
                <a:latin typeface="Times-Roman"/>
              </a:rPr>
              <a:t>There is only one path for ray propagation</a:t>
            </a:r>
          </a:p>
          <a:p>
            <a:r>
              <a:rPr lang="en-US" dirty="0">
                <a:latin typeface="Symbol" panose="05050102010706020507" pitchFamily="18" charset="2"/>
              </a:rPr>
              <a:t>• </a:t>
            </a:r>
            <a:r>
              <a:rPr lang="en-US" dirty="0">
                <a:latin typeface="Times-Roman"/>
              </a:rPr>
              <a:t>Light is propagated in </a:t>
            </a:r>
            <a:r>
              <a:rPr lang="en-US" dirty="0" err="1">
                <a:latin typeface="Times-Roman"/>
              </a:rPr>
              <a:t>fibre</a:t>
            </a:r>
            <a:r>
              <a:rPr lang="en-US" dirty="0">
                <a:latin typeface="Times-Roman"/>
              </a:rPr>
              <a:t> through reflections</a:t>
            </a:r>
          </a:p>
          <a:p>
            <a:r>
              <a:rPr lang="en-US" dirty="0">
                <a:latin typeface="Symbol" panose="05050102010706020507" pitchFamily="18" charset="2"/>
              </a:rPr>
              <a:t>• </a:t>
            </a:r>
            <a:r>
              <a:rPr lang="en-US" dirty="0">
                <a:latin typeface="Times-Roman"/>
              </a:rPr>
              <a:t>Propagation corresponds to single ray path and is along fibers center line</a:t>
            </a:r>
          </a:p>
          <a:p>
            <a:r>
              <a:rPr lang="en-US" dirty="0">
                <a:latin typeface="Symbol" panose="05050102010706020507" pitchFamily="18" charset="2"/>
              </a:rPr>
              <a:t>• </a:t>
            </a:r>
            <a:r>
              <a:rPr lang="en-US" dirty="0">
                <a:latin typeface="Times-Roman"/>
              </a:rPr>
              <a:t>Core diameter is about 8 to 10 </a:t>
            </a:r>
            <a:r>
              <a:rPr lang="en-US" dirty="0" err="1">
                <a:latin typeface="TT1CDt00"/>
              </a:rPr>
              <a:t>μ</a:t>
            </a:r>
            <a:r>
              <a:rPr lang="en-US" dirty="0" err="1">
                <a:latin typeface="Times-Roman"/>
              </a:rPr>
              <a:t>m</a:t>
            </a:r>
            <a:r>
              <a:rPr lang="en-US" dirty="0">
                <a:latin typeface="Times-Roman"/>
              </a:rPr>
              <a:t> and cladding is 60 to 70 </a:t>
            </a:r>
            <a:r>
              <a:rPr lang="en-US" dirty="0" err="1">
                <a:latin typeface="TT1CDt00"/>
              </a:rPr>
              <a:t>μ</a:t>
            </a:r>
            <a:r>
              <a:rPr lang="en-US" dirty="0" err="1">
                <a:latin typeface="Times-Roman"/>
              </a:rPr>
              <a:t>m</a:t>
            </a:r>
            <a:endParaRPr lang="en-US" dirty="0">
              <a:latin typeface="Times-Roman"/>
            </a:endParaRPr>
          </a:p>
          <a:p>
            <a:r>
              <a:rPr lang="en-US" dirty="0">
                <a:latin typeface="Symbol" panose="05050102010706020507" pitchFamily="18" charset="2"/>
              </a:rPr>
              <a:t>• </a:t>
            </a:r>
            <a:r>
              <a:rPr lang="en-US" dirty="0">
                <a:latin typeface="Times-Roman"/>
              </a:rPr>
              <a:t>Lasers are used as light sources</a:t>
            </a:r>
          </a:p>
          <a:p>
            <a:r>
              <a:rPr lang="en-US" dirty="0">
                <a:latin typeface="Symbol" panose="05050102010706020507" pitchFamily="18" charset="2"/>
              </a:rPr>
              <a:t>• </a:t>
            </a:r>
            <a:r>
              <a:rPr lang="en-US" dirty="0">
                <a:latin typeface="Times-Roman"/>
              </a:rPr>
              <a:t>Uses in underwater cable systems</a:t>
            </a:r>
          </a:p>
          <a:p>
            <a:r>
              <a:rPr lang="en-US" dirty="0">
                <a:latin typeface="Symbol" panose="05050102010706020507" pitchFamily="18" charset="2"/>
              </a:rPr>
              <a:t>• </a:t>
            </a:r>
            <a:r>
              <a:rPr lang="en-US" dirty="0">
                <a:latin typeface="Times-Roman"/>
              </a:rPr>
              <a:t>NA is small</a:t>
            </a:r>
            <a:endParaRPr lang="en-US" dirty="0"/>
          </a:p>
        </p:txBody>
      </p:sp>
      <p:pic>
        <p:nvPicPr>
          <p:cNvPr id="4" name="Picture 3"/>
          <p:cNvPicPr>
            <a:picLocks noChangeAspect="1"/>
          </p:cNvPicPr>
          <p:nvPr/>
        </p:nvPicPr>
        <p:blipFill>
          <a:blip r:embed="rId2"/>
          <a:stretch>
            <a:fillRect/>
          </a:stretch>
        </p:blipFill>
        <p:spPr>
          <a:xfrm>
            <a:off x="2759487" y="3860876"/>
            <a:ext cx="5802167" cy="2155219"/>
          </a:xfrm>
          <a:prstGeom prst="rect">
            <a:avLst/>
          </a:prstGeom>
        </p:spPr>
      </p:pic>
    </p:spTree>
    <p:extLst>
      <p:ext uri="{BB962C8B-B14F-4D97-AF65-F5344CB8AC3E}">
        <p14:creationId xmlns:p14="http://schemas.microsoft.com/office/powerpoint/2010/main" val="11728579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27313" y="516154"/>
            <a:ext cx="10116457" cy="2862322"/>
          </a:xfrm>
          <a:prstGeom prst="rect">
            <a:avLst/>
          </a:prstGeom>
        </p:spPr>
        <p:txBody>
          <a:bodyPr wrap="square">
            <a:spAutoFit/>
          </a:bodyPr>
          <a:lstStyle/>
          <a:p>
            <a:r>
              <a:rPr lang="fr-FR" b="1" dirty="0">
                <a:latin typeface="Times-Bold"/>
              </a:rPr>
              <a:t>Multi mode </a:t>
            </a:r>
            <a:r>
              <a:rPr lang="fr-FR" b="1" dirty="0" err="1">
                <a:latin typeface="Times-Bold"/>
              </a:rPr>
              <a:t>step</a:t>
            </a:r>
            <a:r>
              <a:rPr lang="fr-FR" b="1" dirty="0">
                <a:latin typeface="Times-Bold"/>
              </a:rPr>
              <a:t> index fibre:</a:t>
            </a:r>
          </a:p>
          <a:p>
            <a:r>
              <a:rPr lang="en-US" dirty="0">
                <a:latin typeface="Symbol" panose="05050102010706020507" pitchFamily="18" charset="2"/>
              </a:rPr>
              <a:t>• </a:t>
            </a:r>
            <a:r>
              <a:rPr lang="en-US" dirty="0">
                <a:latin typeface="Times-Roman"/>
              </a:rPr>
              <a:t>Most widely used</a:t>
            </a:r>
          </a:p>
          <a:p>
            <a:r>
              <a:rPr lang="en-US" dirty="0">
                <a:latin typeface="Symbol" panose="05050102010706020507" pitchFamily="18" charset="2"/>
              </a:rPr>
              <a:t>• </a:t>
            </a:r>
            <a:r>
              <a:rPr lang="en-US" dirty="0">
                <a:latin typeface="Times-Roman"/>
              </a:rPr>
              <a:t>It contains several modes of propagation</a:t>
            </a:r>
          </a:p>
          <a:p>
            <a:r>
              <a:rPr lang="en-US" dirty="0">
                <a:latin typeface="Symbol" panose="05050102010706020507" pitchFamily="18" charset="2"/>
              </a:rPr>
              <a:t>• </a:t>
            </a:r>
            <a:r>
              <a:rPr lang="en-US" dirty="0">
                <a:latin typeface="Times-Roman"/>
              </a:rPr>
              <a:t>It has large relative refractive index difference</a:t>
            </a:r>
          </a:p>
          <a:p>
            <a:r>
              <a:rPr lang="en-US" dirty="0">
                <a:latin typeface="Symbol" panose="05050102010706020507" pitchFamily="18" charset="2"/>
              </a:rPr>
              <a:t>• </a:t>
            </a:r>
            <a:r>
              <a:rPr lang="en-US" dirty="0">
                <a:latin typeface="Times-Roman"/>
              </a:rPr>
              <a:t>NA is of order of 0.3</a:t>
            </a:r>
          </a:p>
          <a:p>
            <a:r>
              <a:rPr lang="en-US" dirty="0">
                <a:latin typeface="Symbol" panose="05050102010706020507" pitchFamily="18" charset="2"/>
              </a:rPr>
              <a:t>• </a:t>
            </a:r>
            <a:r>
              <a:rPr lang="en-US" dirty="0">
                <a:latin typeface="Times-Roman"/>
              </a:rPr>
              <a:t>Core and cladding diameters are much larger to have may paths that a light ray may</a:t>
            </a:r>
          </a:p>
          <a:p>
            <a:r>
              <a:rPr lang="en-US" dirty="0">
                <a:latin typeface="Times-Roman"/>
              </a:rPr>
              <a:t>follow during propagation</a:t>
            </a:r>
          </a:p>
          <a:p>
            <a:r>
              <a:rPr lang="en-US" dirty="0">
                <a:latin typeface="Symbol" panose="05050102010706020507" pitchFamily="18" charset="2"/>
              </a:rPr>
              <a:t>• </a:t>
            </a:r>
            <a:r>
              <a:rPr lang="en-US" dirty="0">
                <a:latin typeface="Times-Roman"/>
              </a:rPr>
              <a:t>Light propagation is by multiple total internal reflections</a:t>
            </a:r>
          </a:p>
          <a:p>
            <a:r>
              <a:rPr lang="en-US" dirty="0">
                <a:latin typeface="Symbol" panose="05050102010706020507" pitchFamily="18" charset="2"/>
              </a:rPr>
              <a:t>• </a:t>
            </a:r>
            <a:r>
              <a:rPr lang="en-US" dirty="0">
                <a:latin typeface="Times-Roman"/>
              </a:rPr>
              <a:t>Core diameter varies from 50 to 200 </a:t>
            </a:r>
            <a:r>
              <a:rPr lang="en-US" dirty="0" err="1">
                <a:latin typeface="TT1CDt00"/>
              </a:rPr>
              <a:t>μ</a:t>
            </a:r>
            <a:r>
              <a:rPr lang="en-US" dirty="0" err="1">
                <a:latin typeface="Times-Roman"/>
              </a:rPr>
              <a:t>m</a:t>
            </a:r>
            <a:r>
              <a:rPr lang="en-US" dirty="0">
                <a:latin typeface="Times-Roman"/>
              </a:rPr>
              <a:t> and cladding varies from 100 to 250 </a:t>
            </a:r>
            <a:r>
              <a:rPr lang="en-US" dirty="0" err="1">
                <a:latin typeface="TT1CDt00"/>
              </a:rPr>
              <a:t>μ</a:t>
            </a:r>
            <a:r>
              <a:rPr lang="en-US" dirty="0" err="1">
                <a:latin typeface="Times-Roman"/>
              </a:rPr>
              <a:t>m</a:t>
            </a:r>
            <a:endParaRPr lang="en-US" dirty="0">
              <a:latin typeface="Times-Roman"/>
            </a:endParaRPr>
          </a:p>
          <a:p>
            <a:r>
              <a:rPr lang="en-US" dirty="0">
                <a:latin typeface="Symbol" panose="05050102010706020507" pitchFamily="18" charset="2"/>
              </a:rPr>
              <a:t>• </a:t>
            </a:r>
            <a:r>
              <a:rPr lang="en-US" dirty="0">
                <a:latin typeface="Times-Roman"/>
              </a:rPr>
              <a:t>Used in applications requiring distances less than 1 km</a:t>
            </a:r>
            <a:endParaRPr lang="en-US" dirty="0"/>
          </a:p>
        </p:txBody>
      </p:sp>
      <p:pic>
        <p:nvPicPr>
          <p:cNvPr id="4" name="Picture 3"/>
          <p:cNvPicPr>
            <a:picLocks noChangeAspect="1"/>
          </p:cNvPicPr>
          <p:nvPr/>
        </p:nvPicPr>
        <p:blipFill>
          <a:blip r:embed="rId2"/>
          <a:stretch>
            <a:fillRect/>
          </a:stretch>
        </p:blipFill>
        <p:spPr>
          <a:xfrm>
            <a:off x="2603493" y="3819953"/>
            <a:ext cx="5910958" cy="2237063"/>
          </a:xfrm>
          <a:prstGeom prst="rect">
            <a:avLst/>
          </a:prstGeom>
        </p:spPr>
      </p:pic>
    </p:spTree>
    <p:extLst>
      <p:ext uri="{BB962C8B-B14F-4D97-AF65-F5344CB8AC3E}">
        <p14:creationId xmlns:p14="http://schemas.microsoft.com/office/powerpoint/2010/main" val="19312205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56343" y="596597"/>
            <a:ext cx="10348686" cy="2585323"/>
          </a:xfrm>
          <a:prstGeom prst="rect">
            <a:avLst/>
          </a:prstGeom>
        </p:spPr>
        <p:txBody>
          <a:bodyPr wrap="square">
            <a:spAutoFit/>
          </a:bodyPr>
          <a:lstStyle/>
          <a:p>
            <a:r>
              <a:rPr lang="en-US" b="1" dirty="0">
                <a:latin typeface="Times-Bold"/>
              </a:rPr>
              <a:t>Graded index </a:t>
            </a:r>
            <a:r>
              <a:rPr lang="en-US" b="1" dirty="0" err="1">
                <a:latin typeface="Times-Bold"/>
              </a:rPr>
              <a:t>fibre</a:t>
            </a:r>
            <a:r>
              <a:rPr lang="en-US" b="1" dirty="0">
                <a:latin typeface="Times-Bold"/>
              </a:rPr>
              <a:t>:</a:t>
            </a:r>
          </a:p>
          <a:p>
            <a:r>
              <a:rPr lang="en-US" dirty="0">
                <a:latin typeface="Symbol" panose="05050102010706020507" pitchFamily="18" charset="2"/>
              </a:rPr>
              <a:t>• </a:t>
            </a:r>
            <a:r>
              <a:rPr lang="en-US" dirty="0">
                <a:latin typeface="Times-Roman"/>
              </a:rPr>
              <a:t>Light ray is propagated through refraction</a:t>
            </a:r>
          </a:p>
          <a:p>
            <a:r>
              <a:rPr lang="en-US" dirty="0">
                <a:latin typeface="Symbol" panose="05050102010706020507" pitchFamily="18" charset="2"/>
              </a:rPr>
              <a:t>• </a:t>
            </a:r>
            <a:r>
              <a:rPr lang="en-US" dirty="0">
                <a:latin typeface="Times-Roman"/>
              </a:rPr>
              <a:t>NA is smaller than step index multi mode </a:t>
            </a:r>
            <a:r>
              <a:rPr lang="en-US" dirty="0" err="1">
                <a:latin typeface="Times-Roman"/>
              </a:rPr>
              <a:t>fibre</a:t>
            </a:r>
            <a:endParaRPr lang="en-US" dirty="0">
              <a:latin typeface="Times-Roman"/>
            </a:endParaRPr>
          </a:p>
          <a:p>
            <a:r>
              <a:rPr lang="en-US" dirty="0">
                <a:latin typeface="Symbol" panose="05050102010706020507" pitchFamily="18" charset="2"/>
              </a:rPr>
              <a:t>• </a:t>
            </a:r>
            <a:r>
              <a:rPr lang="en-US" dirty="0">
                <a:latin typeface="Times-Roman"/>
              </a:rPr>
              <a:t>Light enters the fiber at many different angles</a:t>
            </a:r>
          </a:p>
          <a:p>
            <a:r>
              <a:rPr lang="en-US" dirty="0">
                <a:latin typeface="Symbol" panose="05050102010706020507" pitchFamily="18" charset="2"/>
              </a:rPr>
              <a:t>• </a:t>
            </a:r>
            <a:r>
              <a:rPr lang="en-US" dirty="0">
                <a:latin typeface="Times-Roman"/>
              </a:rPr>
              <a:t>The beam travelling at farthest distance will propagate at higher speed because it meets</a:t>
            </a:r>
          </a:p>
          <a:p>
            <a:r>
              <a:rPr lang="en-US" dirty="0">
                <a:latin typeface="Times-Roman"/>
              </a:rPr>
              <a:t>lower refractive index.</a:t>
            </a:r>
          </a:p>
          <a:p>
            <a:r>
              <a:rPr lang="en-US" dirty="0">
                <a:latin typeface="Symbol" panose="05050102010706020507" pitchFamily="18" charset="2"/>
              </a:rPr>
              <a:t>• </a:t>
            </a:r>
            <a:r>
              <a:rPr lang="en-US" dirty="0">
                <a:latin typeface="Times-Roman"/>
              </a:rPr>
              <a:t>Core diameter varies from 50 to 200 </a:t>
            </a:r>
            <a:r>
              <a:rPr lang="en-US" dirty="0" err="1">
                <a:latin typeface="TT1CDt00"/>
              </a:rPr>
              <a:t>μ</a:t>
            </a:r>
            <a:r>
              <a:rPr lang="en-US" dirty="0" err="1">
                <a:latin typeface="Times-Roman"/>
              </a:rPr>
              <a:t>m</a:t>
            </a:r>
            <a:r>
              <a:rPr lang="en-US" dirty="0">
                <a:latin typeface="Times-Roman"/>
              </a:rPr>
              <a:t> and cladding varies from 100 to 250 </a:t>
            </a:r>
            <a:r>
              <a:rPr lang="en-US" dirty="0" err="1">
                <a:latin typeface="TT1CDt00"/>
              </a:rPr>
              <a:t>μ</a:t>
            </a:r>
            <a:r>
              <a:rPr lang="en-US" dirty="0" err="1">
                <a:latin typeface="Times-Roman"/>
              </a:rPr>
              <a:t>m</a:t>
            </a:r>
            <a:endParaRPr lang="en-US" dirty="0">
              <a:latin typeface="Times-Roman"/>
            </a:endParaRPr>
          </a:p>
          <a:p>
            <a:r>
              <a:rPr lang="en-US" dirty="0">
                <a:latin typeface="Symbol" panose="05050102010706020507" pitchFamily="18" charset="2"/>
              </a:rPr>
              <a:t>• </a:t>
            </a:r>
            <a:r>
              <a:rPr lang="en-US" dirty="0">
                <a:latin typeface="Times-Roman"/>
              </a:rPr>
              <a:t>Either laser or LED is used as light source</a:t>
            </a:r>
          </a:p>
          <a:p>
            <a:r>
              <a:rPr lang="en-US" dirty="0">
                <a:latin typeface="Symbol" panose="05050102010706020507" pitchFamily="18" charset="2"/>
              </a:rPr>
              <a:t>• </a:t>
            </a:r>
            <a:r>
              <a:rPr lang="en-US" dirty="0">
                <a:latin typeface="Times-Roman"/>
              </a:rPr>
              <a:t>Used for long distance communications</a:t>
            </a:r>
            <a:endParaRPr lang="en-US" dirty="0"/>
          </a:p>
        </p:txBody>
      </p:sp>
      <p:pic>
        <p:nvPicPr>
          <p:cNvPr id="3" name="Picture 2"/>
          <p:cNvPicPr>
            <a:picLocks noChangeAspect="1"/>
          </p:cNvPicPr>
          <p:nvPr/>
        </p:nvPicPr>
        <p:blipFill>
          <a:blip r:embed="rId2"/>
          <a:stretch>
            <a:fillRect/>
          </a:stretch>
        </p:blipFill>
        <p:spPr>
          <a:xfrm>
            <a:off x="1417382" y="3392389"/>
            <a:ext cx="7325236" cy="2482594"/>
          </a:xfrm>
          <a:prstGeom prst="rect">
            <a:avLst/>
          </a:prstGeom>
        </p:spPr>
      </p:pic>
    </p:spTree>
    <p:extLst>
      <p:ext uri="{BB962C8B-B14F-4D97-AF65-F5344CB8AC3E}">
        <p14:creationId xmlns:p14="http://schemas.microsoft.com/office/powerpoint/2010/main" val="30319255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49207" y="239876"/>
            <a:ext cx="5006499" cy="369332"/>
          </a:xfrm>
          <a:prstGeom prst="rect">
            <a:avLst/>
          </a:prstGeom>
        </p:spPr>
        <p:txBody>
          <a:bodyPr wrap="none">
            <a:spAutoFit/>
          </a:bodyPr>
          <a:lstStyle/>
          <a:p>
            <a:r>
              <a:rPr lang="en-US" b="1" dirty="0">
                <a:latin typeface="Times-Bold"/>
              </a:rPr>
              <a:t>Materials are used to fabricate optical fibers</a:t>
            </a:r>
            <a:endParaRPr lang="en-US" dirty="0"/>
          </a:p>
        </p:txBody>
      </p:sp>
      <p:sp>
        <p:nvSpPr>
          <p:cNvPr id="3" name="Rectangle 2"/>
          <p:cNvSpPr/>
          <p:nvPr/>
        </p:nvSpPr>
        <p:spPr>
          <a:xfrm>
            <a:off x="738181" y="834962"/>
            <a:ext cx="5622052" cy="369332"/>
          </a:xfrm>
          <a:prstGeom prst="rect">
            <a:avLst/>
          </a:prstGeom>
        </p:spPr>
        <p:txBody>
          <a:bodyPr wrap="none">
            <a:spAutoFit/>
          </a:bodyPr>
          <a:lstStyle/>
          <a:p>
            <a:r>
              <a:rPr lang="en-US" dirty="0">
                <a:latin typeface="Times-Roman"/>
              </a:rPr>
              <a:t>The materials used for fabrication of optical fibers are</a:t>
            </a:r>
            <a:endParaRPr lang="en-US" dirty="0"/>
          </a:p>
        </p:txBody>
      </p:sp>
      <p:sp>
        <p:nvSpPr>
          <p:cNvPr id="4" name="Rectangle 3"/>
          <p:cNvSpPr/>
          <p:nvPr/>
        </p:nvSpPr>
        <p:spPr>
          <a:xfrm>
            <a:off x="738180" y="1430048"/>
            <a:ext cx="10045933" cy="4524315"/>
          </a:xfrm>
          <a:prstGeom prst="rect">
            <a:avLst/>
          </a:prstGeom>
        </p:spPr>
        <p:txBody>
          <a:bodyPr wrap="square">
            <a:spAutoFit/>
          </a:bodyPr>
          <a:lstStyle/>
          <a:p>
            <a:r>
              <a:rPr lang="en-US" b="1" dirty="0">
                <a:latin typeface="Times-Bold"/>
              </a:rPr>
              <a:t>Glass:</a:t>
            </a:r>
          </a:p>
          <a:p>
            <a:r>
              <a:rPr lang="en-US" dirty="0">
                <a:latin typeface="Symbol" panose="05050102010706020507" pitchFamily="18" charset="2"/>
              </a:rPr>
              <a:t>• </a:t>
            </a:r>
            <a:r>
              <a:rPr lang="en-US" dirty="0">
                <a:latin typeface="Times-Roman"/>
              </a:rPr>
              <a:t>The basic material is silica</a:t>
            </a:r>
          </a:p>
          <a:p>
            <a:r>
              <a:rPr lang="en-US" dirty="0">
                <a:latin typeface="Symbol" panose="05050102010706020507" pitchFamily="18" charset="2"/>
              </a:rPr>
              <a:t>• </a:t>
            </a:r>
            <a:r>
              <a:rPr lang="en-US" dirty="0">
                <a:latin typeface="Times-Roman"/>
              </a:rPr>
              <a:t>Materials with different refractive index are obtained by doping silica with small quantities</a:t>
            </a:r>
          </a:p>
          <a:p>
            <a:r>
              <a:rPr lang="en-US" dirty="0">
                <a:latin typeface="Times-Roman"/>
              </a:rPr>
              <a:t>of various oxides</a:t>
            </a:r>
          </a:p>
          <a:p>
            <a:r>
              <a:rPr lang="en-US" dirty="0">
                <a:latin typeface="Symbol" panose="05050102010706020507" pitchFamily="18" charset="2"/>
              </a:rPr>
              <a:t>• </a:t>
            </a:r>
            <a:r>
              <a:rPr lang="en-US" dirty="0">
                <a:latin typeface="Times-Roman"/>
              </a:rPr>
              <a:t>SiO</a:t>
            </a:r>
            <a:r>
              <a:rPr lang="en-US" sz="1050" dirty="0">
                <a:latin typeface="Times-Roman"/>
              </a:rPr>
              <a:t>2 </a:t>
            </a:r>
            <a:r>
              <a:rPr lang="en-US" dirty="0">
                <a:latin typeface="Times-Roman"/>
              </a:rPr>
              <a:t>core- B</a:t>
            </a:r>
            <a:r>
              <a:rPr lang="en-US" sz="1050" dirty="0">
                <a:latin typeface="Times-Roman"/>
              </a:rPr>
              <a:t>2</a:t>
            </a:r>
            <a:r>
              <a:rPr lang="en-US" dirty="0">
                <a:latin typeface="Times-Roman"/>
              </a:rPr>
              <a:t>O</a:t>
            </a:r>
            <a:r>
              <a:rPr lang="en-US" sz="1050" dirty="0">
                <a:latin typeface="Times-Roman"/>
              </a:rPr>
              <a:t>3</a:t>
            </a:r>
            <a:r>
              <a:rPr lang="en-US" dirty="0">
                <a:latin typeface="Times-Roman"/>
              </a:rPr>
              <a:t>.SiO</a:t>
            </a:r>
            <a:r>
              <a:rPr lang="en-US" sz="1050" dirty="0">
                <a:latin typeface="Times-Roman"/>
              </a:rPr>
              <a:t>2 </a:t>
            </a:r>
            <a:r>
              <a:rPr lang="en-US" dirty="0">
                <a:latin typeface="Times-Roman"/>
              </a:rPr>
              <a:t>cladding</a:t>
            </a:r>
          </a:p>
          <a:p>
            <a:r>
              <a:rPr lang="en-US" dirty="0">
                <a:latin typeface="Symbol" panose="05050102010706020507" pitchFamily="18" charset="2"/>
              </a:rPr>
              <a:t>• </a:t>
            </a:r>
            <a:r>
              <a:rPr lang="en-US" dirty="0">
                <a:latin typeface="Times-Roman"/>
              </a:rPr>
              <a:t>GeO</a:t>
            </a:r>
            <a:r>
              <a:rPr lang="en-US" sz="1050" dirty="0">
                <a:latin typeface="Times-Roman"/>
              </a:rPr>
              <a:t>2</a:t>
            </a:r>
            <a:r>
              <a:rPr lang="en-US" dirty="0">
                <a:latin typeface="Times-Roman"/>
              </a:rPr>
              <a:t>.SiO</a:t>
            </a:r>
            <a:r>
              <a:rPr lang="en-US" sz="1050" dirty="0">
                <a:latin typeface="Times-Roman"/>
              </a:rPr>
              <a:t>2 </a:t>
            </a:r>
            <a:r>
              <a:rPr lang="en-US" dirty="0">
                <a:latin typeface="Times-Roman"/>
              </a:rPr>
              <a:t>core – SiO</a:t>
            </a:r>
            <a:r>
              <a:rPr lang="en-US" sz="1050" dirty="0">
                <a:latin typeface="Times-Roman"/>
              </a:rPr>
              <a:t>2 </a:t>
            </a:r>
            <a:r>
              <a:rPr lang="en-US" dirty="0">
                <a:latin typeface="Times-Roman"/>
              </a:rPr>
              <a:t>cladding</a:t>
            </a:r>
          </a:p>
          <a:p>
            <a:endParaRPr lang="en-US" b="1" dirty="0">
              <a:latin typeface="Times-Bold"/>
            </a:endParaRPr>
          </a:p>
          <a:p>
            <a:r>
              <a:rPr lang="en-US" b="1" dirty="0">
                <a:latin typeface="Times-Bold"/>
              </a:rPr>
              <a:t>Plastic fibers:</a:t>
            </a:r>
          </a:p>
          <a:p>
            <a:r>
              <a:rPr lang="en-US" dirty="0">
                <a:latin typeface="Symbol" panose="05050102010706020507" pitchFamily="18" charset="2"/>
              </a:rPr>
              <a:t>• </a:t>
            </a:r>
            <a:r>
              <a:rPr lang="en-US" dirty="0">
                <a:latin typeface="Times-Roman"/>
              </a:rPr>
              <a:t>PMMA and </a:t>
            </a:r>
            <a:r>
              <a:rPr lang="en-US" dirty="0" err="1">
                <a:latin typeface="Times-Roman"/>
              </a:rPr>
              <a:t>polysterene</a:t>
            </a:r>
            <a:r>
              <a:rPr lang="en-US" dirty="0">
                <a:latin typeface="Times-Roman"/>
              </a:rPr>
              <a:t> are used for core</a:t>
            </a:r>
          </a:p>
          <a:p>
            <a:r>
              <a:rPr lang="en-US" dirty="0">
                <a:latin typeface="Symbol" panose="05050102010706020507" pitchFamily="18" charset="2"/>
              </a:rPr>
              <a:t>• </a:t>
            </a:r>
            <a:r>
              <a:rPr lang="en-US" dirty="0">
                <a:latin typeface="Times-Roman"/>
              </a:rPr>
              <a:t>Silicon resin or fluorocarbon polymer are used for cladding</a:t>
            </a:r>
          </a:p>
          <a:p>
            <a:r>
              <a:rPr lang="en-US" dirty="0">
                <a:latin typeface="Symbol" panose="05050102010706020507" pitchFamily="18" charset="2"/>
              </a:rPr>
              <a:t>• </a:t>
            </a:r>
            <a:r>
              <a:rPr lang="en-US" dirty="0">
                <a:latin typeface="Times-Roman"/>
              </a:rPr>
              <a:t>Plastic fibers have large NA of the order of 0.6</a:t>
            </a:r>
          </a:p>
          <a:p>
            <a:endParaRPr lang="en-US" b="1" dirty="0">
              <a:latin typeface="Times-Bold"/>
            </a:endParaRPr>
          </a:p>
          <a:p>
            <a:r>
              <a:rPr lang="en-US" b="1" dirty="0">
                <a:latin typeface="Times-Bold"/>
              </a:rPr>
              <a:t>Plastic Clad Silica fibers:</a:t>
            </a:r>
          </a:p>
          <a:p>
            <a:r>
              <a:rPr lang="en-US" dirty="0">
                <a:latin typeface="Symbol" panose="05050102010706020507" pitchFamily="18" charset="2"/>
              </a:rPr>
              <a:t>• </a:t>
            </a:r>
            <a:r>
              <a:rPr lang="en-US" dirty="0">
                <a:latin typeface="Times-Roman"/>
              </a:rPr>
              <a:t>They are made of silica cores surrounded by a low refractive index transparent polymer as</a:t>
            </a:r>
          </a:p>
          <a:p>
            <a:r>
              <a:rPr lang="en-US" dirty="0">
                <a:latin typeface="Times-Roman"/>
              </a:rPr>
              <a:t>cladding</a:t>
            </a:r>
          </a:p>
          <a:p>
            <a:r>
              <a:rPr lang="en-US" dirty="0">
                <a:latin typeface="Symbol" panose="05050102010706020507" pitchFamily="18" charset="2"/>
              </a:rPr>
              <a:t>• </a:t>
            </a:r>
            <a:r>
              <a:rPr lang="en-US" dirty="0">
                <a:latin typeface="Times-Roman"/>
              </a:rPr>
              <a:t>Core is made from high purity quartz and cladding is made of silicone resin</a:t>
            </a:r>
            <a:endParaRPr lang="en-US" dirty="0"/>
          </a:p>
        </p:txBody>
      </p:sp>
    </p:spTree>
    <p:extLst>
      <p:ext uri="{BB962C8B-B14F-4D97-AF65-F5344CB8AC3E}">
        <p14:creationId xmlns:p14="http://schemas.microsoft.com/office/powerpoint/2010/main" val="13536843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9315" y="217492"/>
            <a:ext cx="8011885" cy="369332"/>
          </a:xfrm>
          <a:prstGeom prst="rect">
            <a:avLst/>
          </a:prstGeom>
        </p:spPr>
        <p:txBody>
          <a:bodyPr wrap="square">
            <a:spAutoFit/>
          </a:bodyPr>
          <a:lstStyle/>
          <a:p>
            <a:r>
              <a:rPr lang="en-US" b="1" dirty="0">
                <a:latin typeface="Times-Bold"/>
              </a:rPr>
              <a:t>Advantages of optical </a:t>
            </a:r>
            <a:r>
              <a:rPr lang="en-US" b="1" dirty="0" err="1">
                <a:latin typeface="Times-Bold"/>
              </a:rPr>
              <a:t>fibres</a:t>
            </a:r>
            <a:r>
              <a:rPr lang="en-US" b="1" dirty="0">
                <a:latin typeface="Times-Bold"/>
              </a:rPr>
              <a:t> in communication systems</a:t>
            </a:r>
            <a:endParaRPr lang="en-US" dirty="0"/>
          </a:p>
        </p:txBody>
      </p:sp>
      <p:sp>
        <p:nvSpPr>
          <p:cNvPr id="3" name="Rectangle 2"/>
          <p:cNvSpPr/>
          <p:nvPr/>
        </p:nvSpPr>
        <p:spPr>
          <a:xfrm>
            <a:off x="319315" y="586824"/>
            <a:ext cx="11088914" cy="6038641"/>
          </a:xfrm>
          <a:prstGeom prst="rect">
            <a:avLst/>
          </a:prstGeom>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 Enormous potential bandwidth: The information carrying capacity of optical fiber systems is far superior than copper cable systems</a:t>
            </a:r>
          </a:p>
          <a:p>
            <a:pPr algn="just">
              <a:lnSpc>
                <a:spcPct val="150000"/>
              </a:lnSpc>
            </a:pPr>
            <a:r>
              <a:rPr lang="en-US" sz="2000" dirty="0">
                <a:latin typeface="Times New Roman" panose="02020603050405020304" pitchFamily="18" charset="0"/>
                <a:cs typeface="Times New Roman" panose="02020603050405020304" pitchFamily="18" charset="0"/>
              </a:rPr>
              <a:t>• Small size and weight: They have diameters which are often no greater than diameter of human hair</a:t>
            </a:r>
          </a:p>
          <a:p>
            <a:pPr algn="just">
              <a:lnSpc>
                <a:spcPct val="150000"/>
              </a:lnSpc>
            </a:pPr>
            <a:r>
              <a:rPr lang="en-US" sz="2000" dirty="0">
                <a:latin typeface="Times New Roman" panose="02020603050405020304" pitchFamily="18" charset="0"/>
                <a:cs typeface="Times New Roman" panose="02020603050405020304" pitchFamily="18" charset="0"/>
              </a:rPr>
              <a:t>• Electrical isolation: Optical fibers are fabricated from glass and plastics which are good electrical insulators</a:t>
            </a:r>
          </a:p>
          <a:p>
            <a:pPr algn="just">
              <a:lnSpc>
                <a:spcPct val="150000"/>
              </a:lnSpc>
            </a:pPr>
            <a:r>
              <a:rPr lang="en-US" sz="2000" dirty="0">
                <a:latin typeface="Times New Roman" panose="02020603050405020304" pitchFamily="18" charset="0"/>
                <a:cs typeface="Times New Roman" panose="02020603050405020304" pitchFamily="18" charset="0"/>
              </a:rPr>
              <a:t>• Immunity to interference and cross talk. They are free from Electromagnetic interference (EMI) and radiofrequency interference (RFI)</a:t>
            </a:r>
          </a:p>
          <a:p>
            <a:pPr algn="just">
              <a:lnSpc>
                <a:spcPct val="150000"/>
              </a:lnSpc>
            </a:pPr>
            <a:r>
              <a:rPr lang="en-US" sz="2000" dirty="0">
                <a:latin typeface="Times New Roman" panose="02020603050405020304" pitchFamily="18" charset="0"/>
                <a:cs typeface="Times New Roman" panose="02020603050405020304" pitchFamily="18" charset="0"/>
              </a:rPr>
              <a:t>• Signal security: The light from optical fiber does not radiate significantly and therefore provide a high degree of signal security</a:t>
            </a:r>
          </a:p>
          <a:p>
            <a:pPr algn="just">
              <a:lnSpc>
                <a:spcPct val="150000"/>
              </a:lnSpc>
            </a:pPr>
            <a:r>
              <a:rPr lang="en-US" sz="2000" dirty="0">
                <a:latin typeface="Times New Roman" panose="02020603050405020304" pitchFamily="18" charset="0"/>
                <a:cs typeface="Times New Roman" panose="02020603050405020304" pitchFamily="18" charset="0"/>
              </a:rPr>
              <a:t>• Low transmission loss: Fibers have been fabricated with losses as low as 0.2 dB km-1</a:t>
            </a:r>
          </a:p>
          <a:p>
            <a:pPr algn="just">
              <a:lnSpc>
                <a:spcPct val="150000"/>
              </a:lnSpc>
            </a:pPr>
            <a:r>
              <a:rPr lang="en-US" sz="2000" dirty="0">
                <a:latin typeface="Times New Roman" panose="02020603050405020304" pitchFamily="18" charset="0"/>
                <a:cs typeface="Times New Roman" panose="02020603050405020304" pitchFamily="18" charset="0"/>
              </a:rPr>
              <a:t>• Ruggedness and flexibility: Optical fibers are manufactured with high tensile strengths. They are superior in terms of storage, transportation handling </a:t>
            </a:r>
            <a:r>
              <a:rPr lang="en-US" sz="2000" dirty="0" err="1">
                <a:latin typeface="Times New Roman" panose="02020603050405020304" pitchFamily="18" charset="0"/>
                <a:cs typeface="Times New Roman" panose="02020603050405020304" pitchFamily="18" charset="0"/>
              </a:rPr>
              <a:t>etc</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 Potential low lost: Optical fibers are made of SiO2 which is one of the most abundant materials on earth.</a:t>
            </a:r>
          </a:p>
        </p:txBody>
      </p:sp>
    </p:spTree>
    <p:extLst>
      <p:ext uri="{BB962C8B-B14F-4D97-AF65-F5344CB8AC3E}">
        <p14:creationId xmlns:p14="http://schemas.microsoft.com/office/powerpoint/2010/main" val="28188510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599" y="551321"/>
            <a:ext cx="10392230" cy="646331"/>
          </a:xfrm>
          <a:prstGeom prst="rect">
            <a:avLst/>
          </a:prstGeom>
        </p:spPr>
        <p:txBody>
          <a:bodyPr wrap="square">
            <a:spAutoFit/>
          </a:bodyPr>
          <a:lstStyle/>
          <a:p>
            <a:r>
              <a:rPr lang="en-US" dirty="0">
                <a:latin typeface="Times New Roman" panose="02020603050405020304" pitchFamily="18" charset="0"/>
              </a:rPr>
              <a:t>An optical fiber has a core with refractive index o f 1.52 and a cladding with index o f 1.45. Its numerical aperture is</a:t>
            </a:r>
            <a:endParaRPr lang="en-US" dirty="0"/>
          </a:p>
        </p:txBody>
      </p:sp>
      <p:sp>
        <p:nvSpPr>
          <p:cNvPr id="3" name="Rectangle 2"/>
          <p:cNvSpPr/>
          <p:nvPr/>
        </p:nvSpPr>
        <p:spPr>
          <a:xfrm>
            <a:off x="609598" y="1596349"/>
            <a:ext cx="9768115" cy="369332"/>
          </a:xfrm>
          <a:prstGeom prst="rect">
            <a:avLst/>
          </a:prstGeom>
        </p:spPr>
        <p:txBody>
          <a:bodyPr wrap="square">
            <a:spAutoFit/>
          </a:bodyPr>
          <a:lstStyle/>
          <a:p>
            <a:r>
              <a:rPr lang="en-US" dirty="0">
                <a:latin typeface="Times New Roman" panose="02020603050405020304" pitchFamily="18" charset="0"/>
              </a:rPr>
              <a:t>Zircon has a refractive index o f 2.1. W hat is its critical angle for total internal reflection in air?</a:t>
            </a:r>
            <a:endParaRPr lang="en-US" dirty="0"/>
          </a:p>
        </p:txBody>
      </p:sp>
    </p:spTree>
    <p:extLst>
      <p:ext uri="{BB962C8B-B14F-4D97-AF65-F5344CB8AC3E}">
        <p14:creationId xmlns:p14="http://schemas.microsoft.com/office/powerpoint/2010/main" val="40987935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704088"/>
            <a:ext cx="8229600" cy="667512"/>
          </a:xfrm>
          <a:prstGeom prst="rect">
            <a:avLst/>
          </a:prstGeom>
        </p:spPr>
        <p:txBody>
          <a:bodyPr>
            <a:normAutofit fontScale="85000" lnSpcReduction="10000"/>
          </a:bodyPr>
          <a:lst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solidFill>
                  <a:schemeClr val="tx1"/>
                </a:solidFill>
                <a:effectLst>
                  <a:outerShdw blurRad="38100" dist="38100" dir="2700000" algn="tl">
                    <a:srgbClr val="000000">
                      <a:alpha val="43137"/>
                    </a:srgbClr>
                  </a:outerShdw>
                </a:effectLst>
              </a:rPr>
              <a:t>Fractional Refractive Index Change:</a:t>
            </a:r>
            <a:endParaRPr lang="en-US" dirty="0">
              <a:solidFill>
                <a:schemeClr val="tx1"/>
              </a:solidFill>
              <a:effectLst>
                <a:outerShdw blurRad="38100" dist="38100" dir="2700000" algn="tl">
                  <a:srgbClr val="000000">
                    <a:alpha val="43137"/>
                  </a:srgbClr>
                </a:outerShdw>
              </a:effectLst>
            </a:endParaRPr>
          </a:p>
        </p:txBody>
      </p:sp>
      <p:sp>
        <p:nvSpPr>
          <p:cNvPr id="3" name="Content Placeholder 2"/>
          <p:cNvSpPr txBox="1">
            <a:spLocks/>
          </p:cNvSpPr>
          <p:nvPr/>
        </p:nvSpPr>
        <p:spPr>
          <a:xfrm>
            <a:off x="457200" y="1600200"/>
            <a:ext cx="9412514" cy="4724400"/>
          </a:xfrm>
          <a:prstGeom prst="rect">
            <a:avLst/>
          </a:prstGeom>
        </p:spPr>
        <p:txBody>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algn="just"/>
            <a:r>
              <a:rPr lang="en-US" dirty="0">
                <a:latin typeface="+mj-lt"/>
              </a:rPr>
              <a:t>The fractional difference Δ between the refractive indices of the core and the cladding is known as the </a:t>
            </a:r>
            <a:r>
              <a:rPr lang="en-US" i="1" dirty="0">
                <a:latin typeface="+mj-lt"/>
              </a:rPr>
              <a:t>fractional refractive index change</a:t>
            </a:r>
            <a:r>
              <a:rPr lang="en-US" dirty="0">
                <a:latin typeface="+mj-lt"/>
              </a:rPr>
              <a:t>.</a:t>
            </a:r>
          </a:p>
          <a:p>
            <a:pPr algn="just"/>
            <a:r>
              <a:rPr lang="en-US" dirty="0">
                <a:latin typeface="+mj-lt"/>
              </a:rPr>
              <a:t>It is given by  </a:t>
            </a:r>
          </a:p>
          <a:p>
            <a:pPr marL="0" indent="0" algn="just">
              <a:buNone/>
            </a:pPr>
            <a:endParaRPr lang="en-US" dirty="0">
              <a:latin typeface="+mj-lt"/>
            </a:endParaRPr>
          </a:p>
          <a:p>
            <a:pPr marL="0" indent="0" algn="just">
              <a:buNone/>
            </a:pPr>
            <a:endParaRPr lang="en-US" dirty="0">
              <a:latin typeface="+mj-lt"/>
            </a:endParaRPr>
          </a:p>
          <a:p>
            <a:pPr marL="0" indent="0" algn="just">
              <a:buNone/>
            </a:pPr>
            <a:endParaRPr lang="en-US" dirty="0">
              <a:latin typeface="+mj-lt"/>
            </a:endParaRPr>
          </a:p>
          <a:p>
            <a:pPr algn="just"/>
            <a:r>
              <a:rPr lang="en-US" dirty="0">
                <a:latin typeface="+mj-lt"/>
              </a:rPr>
              <a:t>The value of Δ is always positive because n</a:t>
            </a:r>
            <a:r>
              <a:rPr lang="en-US" baseline="-25000" dirty="0">
                <a:latin typeface="+mj-lt"/>
              </a:rPr>
              <a:t>1 </a:t>
            </a:r>
            <a:r>
              <a:rPr lang="en-US" dirty="0">
                <a:latin typeface="+mj-lt"/>
              </a:rPr>
              <a:t> must be greater than n</a:t>
            </a:r>
            <a:r>
              <a:rPr lang="en-US" baseline="-25000" dirty="0">
                <a:latin typeface="+mj-lt"/>
              </a:rPr>
              <a:t>2 </a:t>
            </a:r>
            <a:r>
              <a:rPr lang="en-US" dirty="0">
                <a:latin typeface="+mj-lt"/>
              </a:rPr>
              <a:t> for the total internal reflection condition.</a:t>
            </a:r>
          </a:p>
          <a:p>
            <a:pPr algn="just"/>
            <a:r>
              <a:rPr lang="en-US" dirty="0">
                <a:latin typeface="+mj-lt"/>
              </a:rPr>
              <a:t> In order to guide light rays effectively through a </a:t>
            </a:r>
            <a:r>
              <a:rPr lang="en-US" dirty="0" err="1">
                <a:latin typeface="+mj-lt"/>
              </a:rPr>
              <a:t>fibre</a:t>
            </a:r>
            <a:r>
              <a:rPr lang="en-US" dirty="0">
                <a:latin typeface="+mj-lt"/>
              </a:rPr>
              <a:t>, Δ&lt;&lt;1 and Δ is of the order of 0.01</a:t>
            </a:r>
          </a:p>
          <a:p>
            <a:pPr algn="just"/>
            <a:endParaRPr lang="en-US" dirty="0">
              <a:latin typeface="+mj-lt"/>
            </a:endParaRPr>
          </a:p>
        </p:txBody>
      </p:sp>
      <p:pic>
        <p:nvPicPr>
          <p:cNvPr id="6" name="Picture 5"/>
          <p:cNvPicPr>
            <a:picLocks noChangeAspect="1"/>
          </p:cNvPicPr>
          <p:nvPr/>
        </p:nvPicPr>
        <p:blipFill>
          <a:blip r:embed="rId2"/>
          <a:stretch>
            <a:fillRect/>
          </a:stretch>
        </p:blipFill>
        <p:spPr>
          <a:xfrm>
            <a:off x="3219875" y="2494483"/>
            <a:ext cx="2626447" cy="1245004"/>
          </a:xfrm>
          <a:prstGeom prst="rect">
            <a:avLst/>
          </a:prstGeom>
        </p:spPr>
      </p:pic>
    </p:spTree>
    <p:extLst>
      <p:ext uri="{BB962C8B-B14F-4D97-AF65-F5344CB8AC3E}">
        <p14:creationId xmlns:p14="http://schemas.microsoft.com/office/powerpoint/2010/main" val="17483868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7755" y="1700116"/>
            <a:ext cx="10681647" cy="2554545"/>
          </a:xfrm>
          <a:prstGeom prst="rect">
            <a:avLst/>
          </a:prstGeom>
        </p:spPr>
        <p:txBody>
          <a:bodyPr wrap="square">
            <a:spAutoFit/>
          </a:bodyPr>
          <a:lstStyle/>
          <a:p>
            <a:pPr algn="just"/>
            <a:r>
              <a:rPr lang="en-US" sz="2000" dirty="0">
                <a:latin typeface="Times New Roman" panose="02020603050405020304" pitchFamily="18" charset="0"/>
                <a:cs typeface="Times New Roman" panose="02020603050405020304" pitchFamily="18" charset="0"/>
              </a:rPr>
              <a:t>A </a:t>
            </a:r>
            <a:r>
              <a:rPr lang="en-US" sz="2000" dirty="0" err="1">
                <a:latin typeface="Times New Roman" panose="02020603050405020304" pitchFamily="18" charset="0"/>
                <a:cs typeface="Times New Roman" panose="02020603050405020304" pitchFamily="18" charset="0"/>
              </a:rPr>
              <a:t>fibre</a:t>
            </a:r>
            <a:r>
              <a:rPr lang="en-US" sz="2000" dirty="0">
                <a:latin typeface="Times New Roman" panose="02020603050405020304" pitchFamily="18" charset="0"/>
                <a:cs typeface="Times New Roman" panose="02020603050405020304" pitchFamily="18" charset="0"/>
              </a:rPr>
              <a:t> cable has an acceptance angle of 30</a:t>
            </a:r>
            <a:r>
              <a:rPr lang="en-US" sz="2000" baseline="30000" dirty="0">
                <a:latin typeface="Times New Roman" panose="02020603050405020304" pitchFamily="18" charset="0"/>
                <a:cs typeface="Times New Roman" panose="02020603050405020304" pitchFamily="18" charset="0"/>
              </a:rPr>
              <a:t>o</a:t>
            </a:r>
            <a:r>
              <a:rPr lang="en-US" sz="2000" dirty="0">
                <a:latin typeface="Times New Roman" panose="02020603050405020304" pitchFamily="18" charset="0"/>
                <a:cs typeface="Times New Roman" panose="02020603050405020304" pitchFamily="18" charset="0"/>
              </a:rPr>
              <a:t> and a core index of refraction of 1.4 Calculate the cladding refractive index</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Calculate the fractional index change for a given optical fiber, if the refractive indices of the core and cladding are 1.563 and 1.498 respectively.</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Calculate the  refractive indices of the core and the cladding material of a fiber, if numerical aperture is 0.22 and fraction refractive index change is 0.012.</a:t>
            </a:r>
          </a:p>
        </p:txBody>
      </p:sp>
    </p:spTree>
    <p:extLst>
      <p:ext uri="{BB962C8B-B14F-4D97-AF65-F5344CB8AC3E}">
        <p14:creationId xmlns:p14="http://schemas.microsoft.com/office/powerpoint/2010/main" val="110993304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7AF46513-5B0D-4B03-9323-32F3F0BFC9D6}"/>
    </a:ext>
  </a:extLst>
</a:theme>
</file>

<file path=docProps/app.xml><?xml version="1.0" encoding="utf-8"?>
<Properties xmlns="http://schemas.openxmlformats.org/officeDocument/2006/extended-properties" xmlns:vt="http://schemas.openxmlformats.org/officeDocument/2006/docPropsVTypes">
  <Template>TM03457503[[fn=Quotable]]</Template>
  <TotalTime>177</TotalTime>
  <Words>1446</Words>
  <Application>Microsoft Office PowerPoint</Application>
  <PresentationFormat>Widescreen</PresentationFormat>
  <Paragraphs>119</Paragraphs>
  <Slides>28</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28</vt:i4>
      </vt:variant>
    </vt:vector>
  </HeadingPairs>
  <TitlesOfParts>
    <vt:vector size="37" baseType="lpstr">
      <vt:lpstr>Century Gothic</vt:lpstr>
      <vt:lpstr>Symbol</vt:lpstr>
      <vt:lpstr>Times New Roman</vt:lpstr>
      <vt:lpstr>Times-Bold</vt:lpstr>
      <vt:lpstr>Times-Roman</vt:lpstr>
      <vt:lpstr>TT1CDt00</vt:lpstr>
      <vt:lpstr>Wingdings 2</vt:lpstr>
      <vt:lpstr>Quotable</vt:lpstr>
      <vt:lpstr>Equation</vt:lpstr>
      <vt:lpstr>PHYS1291 Fundamentals of Engineering Physics Unit V:  Fibre optics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19EPH137  Physics for computing science Unit II: Wave Optics and Polarization Problems- Interference</dc:title>
  <dc:creator>MCVarma</dc:creator>
  <cp:lastModifiedBy>DR B SRINIVASA RAO</cp:lastModifiedBy>
  <cp:revision>33</cp:revision>
  <dcterms:created xsi:type="dcterms:W3CDTF">2021-01-06T04:27:56Z</dcterms:created>
  <dcterms:modified xsi:type="dcterms:W3CDTF">2025-03-25T03:22:02Z</dcterms:modified>
</cp:coreProperties>
</file>